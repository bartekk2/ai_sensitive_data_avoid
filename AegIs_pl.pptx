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916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508A8E"/>
                </a:solidFill>
                <a:latin typeface="Calibri"/>
              </a:rPr>
              <a:t>WARSTWA KONTROLI NA WYJŚCIU DO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20574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400" b="0">
                <a:solidFill>
                  <a:srgbClr val="508A8E"/>
                </a:solidFill>
                <a:latin typeface="Georgia"/>
              </a:rPr>
              <a:t>A</a:t>
            </a:r>
            <a:r>
              <a:rPr sz="8400" b="0">
                <a:solidFill>
                  <a:srgbClr val="1C1915"/>
                </a:solidFill>
                <a:latin typeface="Georgia"/>
              </a:rPr>
              <a:t>eg</a:t>
            </a:r>
            <a:r>
              <a:rPr sz="8400" b="0">
                <a:solidFill>
                  <a:srgbClr val="AF78A2"/>
                </a:solidFill>
                <a:latin typeface="Georgia"/>
              </a:rPr>
              <a:t>I</a:t>
            </a:r>
            <a:r>
              <a:rPr sz="84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35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F675C"/>
                </a:solidFill>
                <a:latin typeface="Calibri"/>
              </a:rPr>
              <a:t>Lokalna bramka między pracownikiem (albo agentem) a modelem. Prompt nie wychodzi z firmy, dopóki nie przejdzie kontroli.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SPIS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Co jest w tej prezentacji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Problem: AI w pracy i dane, które już wyciekają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Dlaczego DLP, proxy i szkolenia nie wystarczą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1518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Czym jest AegIs i gdzie siada w ruchu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5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455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Jak zapada decyzja: allow / redact /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758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7588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Kategorie, pewność, role i ludzie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Incydent: kto, co, kiedy, dlaczego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36591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3659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Panel, zmiana polityki bez restartu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66943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08A8E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6694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1915"/>
                </a:solidFill>
                <a:latin typeface="Calibri"/>
              </a:rPr>
              <a:t>Uruchomienie i granice produktu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Ludzie wklejają pracę do chata.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017520" cy="4389120"/>
          </a:xfrm>
          <a:prstGeom prst="roundRect">
            <a:avLst>
              <a:gd name="adj" fmla="val 10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508A8E"/>
                </a:solidFill>
                <a:latin typeface="Calibri"/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F675C"/>
                </a:solidFill>
                <a:latin typeface="Calibri"/>
              </a:rPr>
              <a:t>w pracy, do chata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0020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915"/>
                </a:solidFill>
                <a:latin typeface="Calibri"/>
              </a:rPr>
              <a:t>Firmy wpuszczają ChatGPT, Copilota i agentów do codziennej roboty. Pracownik nie atakuje systemu. On się spieszy: recenzja commita, umowa, mail do klienta.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1752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915"/>
                </a:solidFill>
                <a:latin typeface="Calibri"/>
              </a:rPr>
              <a:t>Do pola wiadomości ląduje kod, tabela z HR, zrzut z CRM, folder z .env. Model jest poza firmą. Jak prompt wyjdzie, nie da się go wycofać.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43484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915"/>
                </a:solidFill>
                <a:latin typeface="Calibri"/>
              </a:rPr>
              <a:t>To nawyk, nie teoria RODO. AegIs zakłada, że nawyku nie wyćwiczysz — trzeba zatrzymać pakiet zanim opuści maszynę.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SCENARIUSZ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Jeden wklejony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915"/>
                </a:solidFill>
                <a:latin typeface="Calibri"/>
              </a:rPr>
              <a:t>Kuba z frontendu prosi o recenzję commita. Model mówi: wklej diff albo wrzuć pliki. Kuba wrzuca cały katalog, bo nie chce mu się cenzurować.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SEKRET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Token do bazy, Stripe, Slack. Po wklejeniu jest w historii chata. Rotacja to już gaszenie pożaru.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688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OSOBA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718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Identyfikatory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6616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PESEL, NIP, e-mail, telefon. Dla RODO to udostępnienie danych poza umowę powierzenia.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4688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3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651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F78A2"/>
                </a:solidFill>
                <a:latin typeface="Calibri"/>
              </a:rPr>
              <a:t>FIRMA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Wynagrodzenia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Arkusz z pensjami nie jest kontekstem do recenzji kodu. Jest dokumentem kadrowym w obcym modelu.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LUKA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Dlaczego dotychczasowe narzędzia tego nie łapią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05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DLP na mailu i pendrive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166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Widzi załącznik w Outlooku. Nie widzi pola na chatgpt.com ani okna agenta. Ruch idzie HTTPS-em, często z konta prywatnego.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6479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Proxy bez treści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5166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Po HTTPS widać host (SNI), nie prompt. Czytanie ciała to CA i MITM — i tak nie wejdziesz w pinning konsumenckich czatów.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Szkolenie i regulamin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5166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Ludzie znają zakaz. Potem mają deadline. Jeden „wrzuć cały folder” obchodzi politykę, której nikt nie egzekwuje przy Enter.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0507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Agenty poza przeglądarką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5166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SDK, cron, LangChain wołają API wprost. Potrzebują OPENAI_BASE_URL albo firmowego proxy — tego samego silnika decyzji.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DEFINICJA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AegIs jest bramką, nie kolejnym chatbotem.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Siedzi między tym, kto pisze, a modelem. Każdy prompt jest sprawdzany lokalnie. Dopiero werdykt decyduje, czy cokolwiek poleci na zewnątrz.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08A8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pracownik / skrypt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Pisze w ChatGPT, Claude, albo woła API z kodu.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AF3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AF3"/>
                </a:solidFill>
                <a:latin typeface="Calibri"/>
              </a:rPr>
              <a:t>bramka 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79476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7F0F0"/>
                </a:solidFill>
                <a:latin typeface="Calibri"/>
              </a:rPr>
              <a:t>Na tej maszynie: finder, klasyfikator, reguły, rola. Nic nie jedzie „do chmury, żeby sprawdzić”.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3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08A8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803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model dostaje albo 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9476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Allow — oryginał. Redact — maski. Block — model nie dostaje promptu, panel dostaje incydent.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WEJŚCIA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Trzy drogi, jeden silnik.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07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PRZEGLĄDARKA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Wtyczka Chrome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Czyta pole na ChatGPT, Claude, Gemini, Copilot, Perplexity, Grok, DeepSeek. Przed Enter woła POST /v1/scan i potrafi przerwać wysyłkę.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FAF3"/>
                </a:solidFill>
                <a:latin typeface="Calibri"/>
              </a:rPr>
              <a:t>AGENTY /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AF3"/>
                </a:solidFill>
                <a:latin typeface="Calibri"/>
              </a:rPr>
              <a:t>Bramka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7F0F0"/>
                </a:solidFill>
                <a:latin typeface="Calibri"/>
              </a:rPr>
              <a:t>OPENAI_BASE_URL=http://127.0.0.1:8080/net/openai/v1 (tak samo Anthropic, Ollama). Skanuje JSON promptu, potem — jeśli wolno — puszcza upstream.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PROCESY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HTTP proxy :8888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803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Dla narzędzi z HTTP_PROXY. Po HTTP widać ciało. Po HTTPS bez CA — host. Agenty AI powinny iść BASE_URL-em, nie MITM-em wszystkiego.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WERDYKT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Trzy wyjścia z bramki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08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915"/>
                </a:solidFill>
                <a:latin typeface="Calibri"/>
              </a:rPr>
              <a:t>Puść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F675C"/>
                </a:solidFill>
                <a:latin typeface="Calibri"/>
              </a:rPr>
              <a:t>Brak wrażliwych spanów albo rola / whitelist pozwala. Model dostaje oryginał. Zapis w audycie zostaje.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REDACT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915"/>
                </a:solidFill>
                <a:latin typeface="Calibri"/>
              </a:rPr>
              <a:t>Zredaguj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F675C"/>
                </a:solidFill>
                <a:latin typeface="Calibri"/>
              </a:rPr>
              <a:t>PESEL, e-mail, karta, telefon stają się maskami. Reszta idzie. Pracownik widzi, co ucięto, i może poprawić.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57600" cy="3840480"/>
          </a:xfrm>
          <a:prstGeom prst="roundRect">
            <a:avLst>
              <a:gd name="adj" fmla="val 8000"/>
            </a:avLst>
          </a:prstGeom>
          <a:solidFill>
            <a:srgbClr val="F3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F78A2"/>
                </a:solidFill>
                <a:latin typeface="Calibri"/>
              </a:rPr>
              <a:t>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915"/>
                </a:solidFill>
                <a:latin typeface="Calibri"/>
              </a:rPr>
              <a:t>Zatrzymaj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3200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F675C"/>
                </a:solidFill>
                <a:latin typeface="Calibri"/>
              </a:rPr>
              <a:t>Sekrety, identyfikatory krytyczne, jailbreak. Stop w UI, 403 w API. Model nie dostaje nic. Panel dostaje incydent.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Preset balanced: government_id, financial, credentials i attack → block; health → redact. Admin zmienia to suwakiem, nie deployem.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WYKRYWANIE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Jak w ogóle widzimy, że to PESEL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09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3619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82496"/>
            <a:ext cx="8595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Kandydaci: rodziny regex z treningu Laya (pii) plus PESEL, NIP, REGON, IBAN, klucze, tokeny, hasła.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0487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Laya ·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51176"/>
            <a:ext cx="8595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Otwarty klasyfikator (Apache-2.0). 22 etykiety, skalibrowane prawdopodobieństwa. Nie generuje tekstu i nie wysyła treści do zamkniętego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7355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3814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Reguły twarde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19856"/>
            <a:ext cx="8595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Poprawny PESEL / NIP, Luhn, IBAN i sekrety zostają nawet gdy model powie not pii. Checksumy nie są opinią.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42231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06823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Sygnatury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88535"/>
            <a:ext cx="8595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Jailbreak, injection, eksfiltracja, nadużycie narzędzi — katalog OWASP LLM, import CERT, włączany per kontrolka.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1091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7550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Heurystyka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157216"/>
            <a:ext cx="8595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Bez wag (~850 MB) bramka wstaje: backend=heuristic. Semantyka jest wyłączona, reszta działa. Na laptopie sędziego to ten sam produkt.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POLITYKA · KATEGORIE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Admin układa, co jest czym — i jak pewnie.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Kategoria ma ryzyko, akcję i próg pewności. Laya ocenia span; poniżej suwaka kategoria nie strzela. Własne kategorie dodajesz w panelu. policy.json przeładowuje się po mtime.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government_id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5000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PESEL, NIP, paszport, dowód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35000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9008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klucz API, token, hasło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9900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301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financial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3016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karta (Luhn), IBAN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63016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19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70247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attack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70247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jailbreak, injection, eksfiltracja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270247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0060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EF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103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1032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historia choroby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91032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redact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4068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040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1915"/>
                </a:solidFill>
                <a:latin typeface="Calibri"/>
              </a:rPr>
              <a:t>contact / person_name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55040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e-mail, telefon, imię — zależy od destynacji i roli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555040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08A8E"/>
                </a:solidFill>
                <a:latin typeface="Calibri"/>
              </a:rPr>
              <a:t>zależnie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POLITYKA ·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Rola to wyjątek, nie opis stanowiska.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1915"/>
                </a:solidFill>
                <a:latin typeface="Calibri"/>
              </a:rPr>
              <a:t>Programista, lekarz i księgowa wyciekają czymś innym. Rola mówi: tej osobie wolno wysłać te kategorie. Ta sama kategoria może blokować developera i puszczać księgową.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Pracownik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08A8E"/>
                </a:solidFill>
                <a:latin typeface="Calibri"/>
              </a:rPr>
              <a:t>brak wyjątków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5166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Każda wycieczka PII ląduje u managera. Domyślny stan nowej osoby.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8600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08A8E"/>
                </a:solidFill>
                <a:latin typeface="Calibri"/>
              </a:rPr>
              <a:t>imię, kontakt, demografia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5166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Rekrutacja musi wkleić imię i telefon. PESEL nadal nie.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Finanse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08A8E"/>
                </a:solidFill>
                <a:latin typeface="Calibri"/>
              </a:rP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5166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IBAN kontrahenta albo karta testowa nie jest incydentem. Klucz API nadal jest.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5196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891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08A8E"/>
                </a:solidFill>
                <a:latin typeface="Calibri"/>
              </a:rPr>
              <a:t>wszystko + override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074920"/>
            <a:ext cx="5166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Widzi dashboard i może nadpisać blokadę, gdy naprawdę trzeba.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POLITYKA · LUDZIE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Przypisanie działa od następnej wiadomości.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Pracownicy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166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E-mail, zespół, role_id. Wtyczka i bramka wiedzą kto pisze (konto / X-Employee-Id). Werdykt liczy się wobec tej roli.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AF3"/>
                </a:solidFill>
                <a:latin typeface="Calibri"/>
              </a:rPr>
              <a:t>Bez restartu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5166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7F0F0"/>
                </a:solidFill>
                <a:latin typeface="Calibri"/>
              </a:rPr>
              <a:t>Zmieniasz Magdzie rolę z Pracownik na HR. Kolejny Enter idzie nową polityką. Baner pokazuje nową wersję. Bez reloadu wtyczki.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Nieznany nadawca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5166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Konto spoza listy ląduje w kolejce „nieznani”. Nie znika w logach i nie dziedziczy wyjątków managera.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3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Whitelist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526280"/>
            <a:ext cx="5166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Wyjątki bez alarmu: adres testowy, konto firmowe, fałszywy alarm. Whitelist nie wyłącza reszty bramki.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SKUTEK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Blok bez incydentu to teatr.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Jak AegIs zatrzyma prompt, w dashboardzie powstaje rekord do przeczytania i reakcji.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40"/>
            <a:ext cx="5623560" cy="338328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Co jest w rekordzie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212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Kto — osoba, e-mail, zespół, rola.
Gdzie — chatgpt.com, OpenAI API, agent, proxy.
Co — kategorie, etykiety, fragment z maskami.
Dlaczego — kontrolki, pewność, akcja.
Kiedy — czas i opóźnienie bramki.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5"/>
                </a:solidFill>
                <a:latin typeface="Calibri"/>
              </a:rPr>
              <a:t>Co robi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5074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Kolejka z filtrami, grupowanie powtórek (dedupe 5 min).
Akcje zbiorcze, przypisanie, notatka, runbook.
Eksport CSV / JSONL do audytu.
Wartości zamaskowane; reveal sam wpada do dziennika.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Wszystko, co jury może zmienić, widać od razu.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623560" cy="210312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Postawa, incydenty,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Wynik 0–100, karty dzisiaj, słupki 24h, top osób. Kolejka. Dziennik append-only. Telemetria p50/p95, RPM. Pole „sprawdź prompt” to ten sam /v1/scan.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623560" cy="210312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Kontrolki i polityka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Włącz checksumy, klasyfikator, sygnatury, role. Suwak progu. Akcja per kategoria i destynacja. Presety. Historia policy.json.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623560" cy="210312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FAF3"/>
                </a:solidFill>
                <a:latin typeface="Calibri"/>
              </a:rPr>
              <a:t>NA ŻYWO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AF3"/>
                </a:solidFill>
                <a:latin typeface="Calibri"/>
              </a:rPr>
              <a:t>Następne żądanie, nie 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7F0F0"/>
                </a:solidFill>
                <a:latin typeface="Calibri"/>
              </a:rPr>
              <a:t>Zmiana threshold albo roli = banner Policy reloaded (version N). GET /health nowa wersja. Czat demo idzie przez /net/openai.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623560" cy="210312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977640"/>
            <a:ext cx="5166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DEGRADACJA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Bez Laya też wstaje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F675C"/>
                </a:solidFill>
                <a:latin typeface="Calibri"/>
              </a:rPr>
              <a:t>Brak wag = heurystyka + baner. PESEL / NIP / IBAN / Luhn / sekrety zostają. Semantyka jest szara, UI nie kłamie że model czuwa.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LOKALNIE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Stop na maszynie. W ~28 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9494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C1915"/>
                </a:solidFill>
                <a:latin typeface="Calibri"/>
              </a:rPr>
              <a:t>Klasyfikacja nie jest round-tripem do dostawcy modelu. Finder i reguły twarde są tanie. Laya, jeśli włączona, liczy się lokalnie. Stąd dziesiątki milisekund, nie sekundy „skanujemy w chmurze”.
To ma znaczenie przy Enter i przy agencie, który czeka na tokeny. Bramka nie może być drugim modelem.
Jeśli werdykt to block — pakiet umiera tutaj. Nie ma „wyślemy, a potem zrobimy incident response”.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00200"/>
            <a:ext cx="4023360" cy="420624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78308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5ECEC"/>
                </a:solidFill>
                <a:latin typeface="Calibri"/>
              </a:rPr>
              <a:t>JEDNO ŻĄDANIE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94560"/>
            <a:ext cx="3611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AF3"/>
                </a:solidFill>
                <a:latin typeface="Calibri"/>
              </a:rPr>
              <a:t>allow-lista modeli → rate limit → budżet → loop guard → finder + klasyfikator → sygnatury → wzorce → wyłączone kontrolki → whitelist / rola → akcja per kategoria → redakcja → incydent → audit + telemetria.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GRANICE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Czego świadomie nie robimy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16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Nie łamiemy konsumenckich czatów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Brak MITM na Messengerze, WhatsAppie, pinned TLS. Do czatów AI w przeglądarce jest wtyczka, która czyta pole, nie cały TLS.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Nie jesteśmy DLP na wszystko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Nie zastępujemy antywirusa ani DLP na poczcie. Jesteśmy warstwą na wyjściu do modelu.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Nie udajemy, że chmura sklasyfikuje lepiej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Wysyłanie promptu do obcego API „żeby sprawdzić czy jest wrażliwy” jest tym samym wyciekiem.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4048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3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5166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C1915"/>
                </a:solidFill>
                <a:latin typeface="Calibri"/>
              </a:rPr>
              <a:t>Nie chowamy degradacji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663440"/>
            <a:ext cx="5166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Bez Laya widać heurystykę. Bez klucza upstreamu bramka i tak zablokuje wcześniej — 502 nie maskuje 403.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08A8E"/>
                </a:solidFill>
                <a:latin typeface="Georgia"/>
              </a:rPr>
              <a:t>A</a:t>
            </a:r>
            <a:r>
              <a:rPr sz="2000" b="0">
                <a:solidFill>
                  <a:srgbClr val="1C1915"/>
                </a:solidFill>
                <a:latin typeface="Georgia"/>
              </a:rPr>
              <a:t>eg</a:t>
            </a:r>
            <a:r>
              <a:rPr sz="2000" b="0">
                <a:solidFill>
                  <a:srgbClr val="AF78A2"/>
                </a:solidFill>
                <a:latin typeface="Georgia"/>
              </a:rPr>
              <a:t>I</a:t>
            </a:r>
            <a:r>
              <a:rPr sz="20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08A8E"/>
                </a:solidFill>
                <a:latin typeface="Calibri"/>
              </a:rP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5"/>
                </a:solidFill>
                <a:latin typeface="Georgia"/>
              </a:rPr>
              <a:t>Po clone — jedna komenda.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Na PATH: Python 3.10+ i Node 18+. Skrypt robi venv, zależności, build dashboardu, bramkę i proxy.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5623560" cy="2377440"/>
          </a:xfrm>
          <a:prstGeom prst="roundRect">
            <a:avLst>
              <a:gd name="adj" fmla="val 8000"/>
            </a:avLst>
          </a:prstGeom>
          <a:solidFill>
            <a:srgbClr val="508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AF3"/>
                </a:solidFill>
                <a:latin typeface="Calibri"/>
              </a:rPr>
              <a:t>python start.py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AF3"/>
                </a:solidFill>
                <a:latin typeface="Calibri"/>
              </a:rPr>
              <a:t>Windows: py start.py albo .\start.ps1. macOS / Linux: ./start.sh. Domyślnie heurystyka. --with-laya dociąga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AF3"/>
          </a:solidFill>
          <a:ln w="12700">
            <a:solidFill>
              <a:srgbClr val="DD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C1915"/>
                </a:solidFill>
                <a:latin typeface="Calibri"/>
              </a:rPr>
              <a:t>Adresy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5074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75C"/>
                </a:solidFill>
                <a:latin typeface="Calibri"/>
              </a:rPr>
              <a:t>http://127.0.0.1:8080/app
/demo  /v1/scan  /net/openai/v1  :8888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11247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5"/>
                </a:solidFill>
                <a:latin typeface="Calibri"/>
              </a:rPr>
              <a:t>Wtyczka: chrome://extensions → tryb deweloperski → Załaduj rozpakowane → katalog extension/. Potem ChatGPT / Claude / Gemini — przy PESEL-u Enter nie wychodzi.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360" y="196596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400" b="0">
                <a:solidFill>
                  <a:srgbClr val="508A8E"/>
                </a:solidFill>
                <a:latin typeface="Georgia"/>
              </a:rPr>
              <a:t>A</a:t>
            </a:r>
            <a:r>
              <a:rPr sz="8400" b="0">
                <a:solidFill>
                  <a:srgbClr val="1C1915"/>
                </a:solidFill>
                <a:latin typeface="Georgia"/>
              </a:rPr>
              <a:t>eg</a:t>
            </a:r>
            <a:r>
              <a:rPr sz="8400" b="0">
                <a:solidFill>
                  <a:srgbClr val="AF78A2"/>
                </a:solidFill>
                <a:latin typeface="Georgia"/>
              </a:rPr>
              <a:t>I</a:t>
            </a:r>
            <a:r>
              <a:rPr sz="8400" b="0">
                <a:solidFill>
                  <a:srgbClr val="1C1915"/>
                </a:solidFill>
                <a:latin typeface="Georgia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F675C"/>
                </a:solidFill>
                <a:latin typeface="Calibri"/>
              </a:rPr>
              <a:t>Lokalna bramka. Prompt nie wychodzi, dopóki nie przejdzie kontroli. Polityka per kategoria i per rola. Incydent mówi kto i co — zanim model zdąży zobaczyć cokolwiek.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F675C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