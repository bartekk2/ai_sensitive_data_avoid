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1097280" y="1691640"/>
            <a:ext cx="10058400" cy="320040"/>
          </a:xfrm>
          <a:prstGeom prst="rect">
            <a:avLst/>
          </a:prstGeom>
          <a:noFill/>
        </p:spPr>
        <p:txBody>
          <a:bodyPr wrap="square" anchor="t">
            <a:spAutoFit/>
          </a:bodyPr>
          <a:lstStyle/>
          <a:p>
            <a:pPr algn="ctr">
              <a:spcAft>
                <a:spcPts val="600"/>
              </a:spcAft>
            </a:pPr>
            <a:r>
              <a:rPr sz="1200" b="1">
                <a:solidFill>
                  <a:srgbClr val="508A8E"/>
                </a:solidFill>
                <a:latin typeface="Calibri"/>
              </a:rPr>
              <a:t>A CONTROL LAYER ON THE WAY OUT TO AI</a:t>
            </a:r>
          </a:p>
        </p:txBody>
      </p:sp>
      <p:sp>
        <p:nvSpPr>
          <p:cNvPr id="3" name="TextBox 2"/>
          <p:cNvSpPr txBox="1"/>
          <p:nvPr/>
        </p:nvSpPr>
        <p:spPr>
          <a:xfrm>
            <a:off x="2880360" y="2057400"/>
            <a:ext cx="6400800" cy="1371600"/>
          </a:xfrm>
          <a:prstGeom prst="rect">
            <a:avLst/>
          </a:prstGeom>
          <a:noFill/>
        </p:spPr>
        <p:txBody>
          <a:bodyPr wrap="none">
            <a:spAutoFit/>
          </a:bodyPr>
          <a:lstStyle/>
          <a:p>
            <a:r>
              <a:rPr sz="8400" b="0">
                <a:solidFill>
                  <a:srgbClr val="508A8E"/>
                </a:solidFill>
                <a:latin typeface="Georgia"/>
              </a:rPr>
              <a:t>A</a:t>
            </a:r>
            <a:r>
              <a:rPr sz="8400" b="0">
                <a:solidFill>
                  <a:srgbClr val="1C1915"/>
                </a:solidFill>
                <a:latin typeface="Georgia"/>
              </a:rPr>
              <a:t>eg</a:t>
            </a:r>
            <a:r>
              <a:rPr sz="8400" b="0">
                <a:solidFill>
                  <a:srgbClr val="AF78A2"/>
                </a:solidFill>
                <a:latin typeface="Georgia"/>
              </a:rPr>
              <a:t>I</a:t>
            </a:r>
            <a:r>
              <a:rPr sz="8400" b="0">
                <a:solidFill>
                  <a:srgbClr val="1C1915"/>
                </a:solidFill>
                <a:latin typeface="Georgia"/>
              </a:rPr>
              <a:t>s</a:t>
            </a:r>
          </a:p>
        </p:txBody>
      </p:sp>
      <p:sp>
        <p:nvSpPr>
          <p:cNvPr id="4" name="TextBox 3"/>
          <p:cNvSpPr txBox="1"/>
          <p:nvPr/>
        </p:nvSpPr>
        <p:spPr>
          <a:xfrm>
            <a:off x="1463040" y="3703320"/>
            <a:ext cx="9235440" cy="1463040"/>
          </a:xfrm>
          <a:prstGeom prst="rect">
            <a:avLst/>
          </a:prstGeom>
          <a:noFill/>
        </p:spPr>
        <p:txBody>
          <a:bodyPr wrap="square" anchor="t">
            <a:spAutoFit/>
          </a:bodyPr>
          <a:lstStyle/>
          <a:p>
            <a:pPr algn="ctr">
              <a:spcAft>
                <a:spcPts val="600"/>
              </a:spcAft>
            </a:pPr>
            <a:r>
              <a:rPr sz="2000" b="0">
                <a:solidFill>
                  <a:srgbClr val="6F675C"/>
                </a:solidFill>
                <a:latin typeface="Calibri"/>
              </a:rPr>
              <a:t>A local gateway between the employee (or an agent) and the model. The prompt does not leave the company until it has passed inspection.</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CONTENTS</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What this deck covers</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02 / 18</a:t>
            </a:r>
          </a:p>
        </p:txBody>
      </p:sp>
      <p:sp>
        <p:nvSpPr>
          <p:cNvPr id="6" name="TextBox 5"/>
          <p:cNvSpPr txBox="1"/>
          <p:nvPr/>
        </p:nvSpPr>
        <p:spPr>
          <a:xfrm>
            <a:off x="548640" y="1554480"/>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01</a:t>
            </a:r>
          </a:p>
        </p:txBody>
      </p:sp>
      <p:sp>
        <p:nvSpPr>
          <p:cNvPr id="7" name="TextBox 6"/>
          <p:cNvSpPr txBox="1"/>
          <p:nvPr/>
        </p:nvSpPr>
        <p:spPr>
          <a:xfrm>
            <a:off x="1280160" y="1554480"/>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The problem: AI at work and data that already leaks</a:t>
            </a:r>
          </a:p>
        </p:txBody>
      </p:sp>
      <p:sp>
        <p:nvSpPr>
          <p:cNvPr id="8" name="TextBox 7"/>
          <p:cNvSpPr txBox="1"/>
          <p:nvPr/>
        </p:nvSpPr>
        <p:spPr>
          <a:xfrm>
            <a:off x="548640" y="2084832"/>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02</a:t>
            </a:r>
          </a:p>
        </p:txBody>
      </p:sp>
      <p:sp>
        <p:nvSpPr>
          <p:cNvPr id="9" name="TextBox 8"/>
          <p:cNvSpPr txBox="1"/>
          <p:nvPr/>
        </p:nvSpPr>
        <p:spPr>
          <a:xfrm>
            <a:off x="1280160" y="2084832"/>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Why DLP, proxies and training are not enough</a:t>
            </a:r>
          </a:p>
        </p:txBody>
      </p:sp>
      <p:sp>
        <p:nvSpPr>
          <p:cNvPr id="10" name="TextBox 9"/>
          <p:cNvSpPr txBox="1"/>
          <p:nvPr/>
        </p:nvSpPr>
        <p:spPr>
          <a:xfrm>
            <a:off x="548640" y="2615184"/>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03</a:t>
            </a:r>
          </a:p>
        </p:txBody>
      </p:sp>
      <p:sp>
        <p:nvSpPr>
          <p:cNvPr id="11" name="TextBox 10"/>
          <p:cNvSpPr txBox="1"/>
          <p:nvPr/>
        </p:nvSpPr>
        <p:spPr>
          <a:xfrm>
            <a:off x="1280160" y="2615184"/>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What AegIs is and where it sits in the traffic</a:t>
            </a:r>
          </a:p>
        </p:txBody>
      </p:sp>
      <p:sp>
        <p:nvSpPr>
          <p:cNvPr id="12" name="TextBox 11"/>
          <p:cNvSpPr txBox="1"/>
          <p:nvPr/>
        </p:nvSpPr>
        <p:spPr>
          <a:xfrm>
            <a:off x="548640" y="3145535"/>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04</a:t>
            </a:r>
          </a:p>
        </p:txBody>
      </p:sp>
      <p:sp>
        <p:nvSpPr>
          <p:cNvPr id="13" name="TextBox 12"/>
          <p:cNvSpPr txBox="1"/>
          <p:nvPr/>
        </p:nvSpPr>
        <p:spPr>
          <a:xfrm>
            <a:off x="1280160" y="3145535"/>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How a decision is made: allow / redact / block</a:t>
            </a:r>
          </a:p>
        </p:txBody>
      </p:sp>
      <p:sp>
        <p:nvSpPr>
          <p:cNvPr id="14" name="TextBox 13"/>
          <p:cNvSpPr txBox="1"/>
          <p:nvPr/>
        </p:nvSpPr>
        <p:spPr>
          <a:xfrm>
            <a:off x="548640" y="3675888"/>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05</a:t>
            </a:r>
          </a:p>
        </p:txBody>
      </p:sp>
      <p:sp>
        <p:nvSpPr>
          <p:cNvPr id="15" name="TextBox 14"/>
          <p:cNvSpPr txBox="1"/>
          <p:nvPr/>
        </p:nvSpPr>
        <p:spPr>
          <a:xfrm>
            <a:off x="1280160" y="3675888"/>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Categories, confidence, roles and people</a:t>
            </a:r>
          </a:p>
        </p:txBody>
      </p:sp>
      <p:sp>
        <p:nvSpPr>
          <p:cNvPr id="16" name="TextBox 15"/>
          <p:cNvSpPr txBox="1"/>
          <p:nvPr/>
        </p:nvSpPr>
        <p:spPr>
          <a:xfrm>
            <a:off x="548640" y="4206240"/>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06</a:t>
            </a:r>
          </a:p>
        </p:txBody>
      </p:sp>
      <p:sp>
        <p:nvSpPr>
          <p:cNvPr id="17" name="TextBox 16"/>
          <p:cNvSpPr txBox="1"/>
          <p:nvPr/>
        </p:nvSpPr>
        <p:spPr>
          <a:xfrm>
            <a:off x="1280160" y="4206240"/>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The incident: who, what, when, why</a:t>
            </a:r>
          </a:p>
        </p:txBody>
      </p:sp>
      <p:sp>
        <p:nvSpPr>
          <p:cNvPr id="18" name="TextBox 17"/>
          <p:cNvSpPr txBox="1"/>
          <p:nvPr/>
        </p:nvSpPr>
        <p:spPr>
          <a:xfrm>
            <a:off x="548640" y="4736591"/>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07</a:t>
            </a:r>
          </a:p>
        </p:txBody>
      </p:sp>
      <p:sp>
        <p:nvSpPr>
          <p:cNvPr id="19" name="TextBox 18"/>
          <p:cNvSpPr txBox="1"/>
          <p:nvPr/>
        </p:nvSpPr>
        <p:spPr>
          <a:xfrm>
            <a:off x="1280160" y="4736591"/>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The dashboard, policy changes with no restart</a:t>
            </a:r>
          </a:p>
        </p:txBody>
      </p:sp>
      <p:sp>
        <p:nvSpPr>
          <p:cNvPr id="20" name="TextBox 19"/>
          <p:cNvSpPr txBox="1"/>
          <p:nvPr/>
        </p:nvSpPr>
        <p:spPr>
          <a:xfrm>
            <a:off x="548640" y="5266943"/>
            <a:ext cx="640080" cy="365760"/>
          </a:xfrm>
          <a:prstGeom prst="rect">
            <a:avLst/>
          </a:prstGeom>
          <a:noFill/>
        </p:spPr>
        <p:txBody>
          <a:bodyPr wrap="square" anchor="t">
            <a:spAutoFit/>
          </a:bodyPr>
          <a:lstStyle/>
          <a:p>
            <a:pPr algn="l">
              <a:spcAft>
                <a:spcPts val="600"/>
              </a:spcAft>
            </a:pPr>
            <a:r>
              <a:rPr sz="1800" b="1">
                <a:solidFill>
                  <a:srgbClr val="508A8E"/>
                </a:solidFill>
                <a:latin typeface="Calibri"/>
              </a:rPr>
              <a:t>08</a:t>
            </a:r>
          </a:p>
        </p:txBody>
      </p:sp>
      <p:sp>
        <p:nvSpPr>
          <p:cNvPr id="21" name="TextBox 20"/>
          <p:cNvSpPr txBox="1"/>
          <p:nvPr/>
        </p:nvSpPr>
        <p:spPr>
          <a:xfrm>
            <a:off x="1280160" y="5266943"/>
            <a:ext cx="10058400" cy="411480"/>
          </a:xfrm>
          <a:prstGeom prst="rect">
            <a:avLst/>
          </a:prstGeom>
          <a:noFill/>
        </p:spPr>
        <p:txBody>
          <a:bodyPr wrap="square" anchor="t">
            <a:spAutoFit/>
          </a:bodyPr>
          <a:lstStyle/>
          <a:p>
            <a:pPr algn="l">
              <a:spcAft>
                <a:spcPts val="600"/>
              </a:spcAft>
            </a:pPr>
            <a:r>
              <a:rPr sz="2200" b="0">
                <a:solidFill>
                  <a:srgbClr val="1C1915"/>
                </a:solidFill>
                <a:latin typeface="Calibri"/>
              </a:rPr>
              <a:t>How to run it, and what we refuse to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PROBLEM</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People paste their work into chat.</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03 / 18</a:t>
            </a:r>
          </a:p>
        </p:txBody>
      </p:sp>
      <p:sp>
        <p:nvSpPr>
          <p:cNvPr id="6" name="Rounded Rectangle 5"/>
          <p:cNvSpPr/>
          <p:nvPr/>
        </p:nvSpPr>
        <p:spPr>
          <a:xfrm>
            <a:off x="457200" y="1600200"/>
            <a:ext cx="3017520" cy="4389120"/>
          </a:xfrm>
          <a:prstGeom prst="roundRect">
            <a:avLst>
              <a:gd name="adj" fmla="val 10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94560"/>
            <a:ext cx="3017520" cy="1463040"/>
          </a:xfrm>
          <a:prstGeom prst="rect">
            <a:avLst/>
          </a:prstGeom>
          <a:noFill/>
        </p:spPr>
        <p:txBody>
          <a:bodyPr wrap="square" anchor="t">
            <a:spAutoFit/>
          </a:bodyPr>
          <a:lstStyle/>
          <a:p>
            <a:pPr algn="ctr">
              <a:spcAft>
                <a:spcPts val="600"/>
              </a:spcAft>
            </a:pPr>
            <a:r>
              <a:rPr sz="6000" b="1">
                <a:solidFill>
                  <a:srgbClr val="508A8E"/>
                </a:solidFill>
                <a:latin typeface="Calibri"/>
              </a:rPr>
              <a:t>38%</a:t>
            </a:r>
          </a:p>
        </p:txBody>
      </p:sp>
      <p:sp>
        <p:nvSpPr>
          <p:cNvPr id="8" name="TextBox 7"/>
          <p:cNvSpPr txBox="1"/>
          <p:nvPr/>
        </p:nvSpPr>
        <p:spPr>
          <a:xfrm>
            <a:off x="594360" y="3840480"/>
            <a:ext cx="2743200" cy="1097280"/>
          </a:xfrm>
          <a:prstGeom prst="rect">
            <a:avLst/>
          </a:prstGeom>
          <a:noFill/>
        </p:spPr>
        <p:txBody>
          <a:bodyPr wrap="square" anchor="t">
            <a:spAutoFit/>
          </a:bodyPr>
          <a:lstStyle/>
          <a:p>
            <a:pPr algn="ctr">
              <a:spcAft>
                <a:spcPts val="600"/>
              </a:spcAft>
            </a:pPr>
            <a:r>
              <a:rPr sz="1800" b="0">
                <a:solidFill>
                  <a:srgbClr val="6F675C"/>
                </a:solidFill>
                <a:latin typeface="Calibri"/>
              </a:rPr>
              <a:t>at work, into chat</a:t>
            </a:r>
          </a:p>
        </p:txBody>
      </p:sp>
      <p:sp>
        <p:nvSpPr>
          <p:cNvPr id="9" name="TextBox 8"/>
          <p:cNvSpPr txBox="1"/>
          <p:nvPr/>
        </p:nvSpPr>
        <p:spPr>
          <a:xfrm>
            <a:off x="3749039" y="1600200"/>
            <a:ext cx="7863840" cy="1371600"/>
          </a:xfrm>
          <a:prstGeom prst="rect">
            <a:avLst/>
          </a:prstGeom>
          <a:noFill/>
        </p:spPr>
        <p:txBody>
          <a:bodyPr wrap="square" anchor="t">
            <a:spAutoFit/>
          </a:bodyPr>
          <a:lstStyle/>
          <a:p>
            <a:pPr algn="l">
              <a:spcAft>
                <a:spcPts val="600"/>
              </a:spcAft>
            </a:pPr>
            <a:r>
              <a:rPr sz="1700" b="0">
                <a:solidFill>
                  <a:srgbClr val="1C1915"/>
                </a:solidFill>
                <a:latin typeface="Calibri"/>
              </a:rPr>
              <a:t>Companies let ChatGPT, Copilot and agents into the working day. The employee is not attacking the system. They are in a hurry: review a commit, summarise a contract, draft a client mail.</a:t>
            </a:r>
          </a:p>
        </p:txBody>
      </p:sp>
      <p:sp>
        <p:nvSpPr>
          <p:cNvPr id="10" name="TextBox 9"/>
          <p:cNvSpPr txBox="1"/>
          <p:nvPr/>
        </p:nvSpPr>
        <p:spPr>
          <a:xfrm>
            <a:off x="3749039" y="3017520"/>
            <a:ext cx="7863840" cy="1371600"/>
          </a:xfrm>
          <a:prstGeom prst="rect">
            <a:avLst/>
          </a:prstGeom>
          <a:noFill/>
        </p:spPr>
        <p:txBody>
          <a:bodyPr wrap="square" anchor="t">
            <a:spAutoFit/>
          </a:bodyPr>
          <a:lstStyle/>
          <a:p>
            <a:pPr algn="l">
              <a:spcAft>
                <a:spcPts val="600"/>
              </a:spcAft>
            </a:pPr>
            <a:r>
              <a:rPr sz="1700" b="0">
                <a:solidFill>
                  <a:srgbClr val="1C1915"/>
                </a:solidFill>
                <a:latin typeface="Calibri"/>
              </a:rPr>
              <a:t>The message box gets code, an HR sheet, a CRM export, a folder with .env. The model is outside the firm. Once the prompt leaves, you cannot pull it back.</a:t>
            </a:r>
          </a:p>
        </p:txBody>
      </p:sp>
      <p:sp>
        <p:nvSpPr>
          <p:cNvPr id="11" name="TextBox 10"/>
          <p:cNvSpPr txBox="1"/>
          <p:nvPr/>
        </p:nvSpPr>
        <p:spPr>
          <a:xfrm>
            <a:off x="3749039" y="4434840"/>
            <a:ext cx="7863840" cy="1371600"/>
          </a:xfrm>
          <a:prstGeom prst="rect">
            <a:avLst/>
          </a:prstGeom>
          <a:noFill/>
        </p:spPr>
        <p:txBody>
          <a:bodyPr wrap="square" anchor="t">
            <a:spAutoFit/>
          </a:bodyPr>
          <a:lstStyle/>
          <a:p>
            <a:pPr algn="l">
              <a:spcAft>
                <a:spcPts val="600"/>
              </a:spcAft>
            </a:pPr>
            <a:r>
              <a:rPr sz="1700" b="0">
                <a:solidFill>
                  <a:srgbClr val="1C1915"/>
                </a:solidFill>
                <a:latin typeface="Calibri"/>
              </a:rPr>
              <a:t>This is a habit, not a theoretical GDPR risk. AegIs assumes you will not train the habit away — you stop the packet before it leaves the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SCENARIO</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One pasted folder.</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04 / 18</a:t>
            </a:r>
          </a:p>
        </p:txBody>
      </p:sp>
      <p:sp>
        <p:nvSpPr>
          <p:cNvPr id="6" name="TextBox 5"/>
          <p:cNvSpPr txBox="1"/>
          <p:nvPr/>
        </p:nvSpPr>
        <p:spPr>
          <a:xfrm>
            <a:off x="457200" y="1508760"/>
            <a:ext cx="11247120" cy="777240"/>
          </a:xfrm>
          <a:prstGeom prst="rect">
            <a:avLst/>
          </a:prstGeom>
          <a:noFill/>
        </p:spPr>
        <p:txBody>
          <a:bodyPr wrap="square" anchor="t">
            <a:spAutoFit/>
          </a:bodyPr>
          <a:lstStyle/>
          <a:p>
            <a:pPr algn="l">
              <a:spcAft>
                <a:spcPts val="600"/>
              </a:spcAft>
            </a:pPr>
            <a:r>
              <a:rPr sz="1700" b="0">
                <a:solidFill>
                  <a:srgbClr val="1C1915"/>
                </a:solidFill>
                <a:latin typeface="Calibri"/>
              </a:rPr>
              <a:t>Jake on frontend asks for a commit review. The model says paste the diff or drop the files. Jake drops the whole directory. He does not want to redact.</a:t>
            </a:r>
          </a:p>
        </p:txBody>
      </p:sp>
      <p:sp>
        <p:nvSpPr>
          <p:cNvPr id="7" name="Rounded Rectangle 6"/>
          <p:cNvSpPr/>
          <p:nvPr/>
        </p:nvSpPr>
        <p:spPr>
          <a:xfrm>
            <a:off x="457200" y="2468880"/>
            <a:ext cx="3657600" cy="356616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51760"/>
            <a:ext cx="3200400" cy="274320"/>
          </a:xfrm>
          <a:prstGeom prst="rect">
            <a:avLst/>
          </a:prstGeom>
          <a:noFill/>
        </p:spPr>
        <p:txBody>
          <a:bodyPr wrap="square" anchor="t">
            <a:spAutoFit/>
          </a:bodyPr>
          <a:lstStyle/>
          <a:p>
            <a:pPr algn="l">
              <a:spcAft>
                <a:spcPts val="600"/>
              </a:spcAft>
            </a:pPr>
            <a:r>
              <a:rPr sz="1100" b="1">
                <a:solidFill>
                  <a:srgbClr val="508A8E"/>
                </a:solidFill>
                <a:latin typeface="Calibri"/>
              </a:rPr>
              <a:t>SECRET</a:t>
            </a:r>
          </a:p>
        </p:txBody>
      </p:sp>
      <p:sp>
        <p:nvSpPr>
          <p:cNvPr id="9" name="TextBox 8"/>
          <p:cNvSpPr txBox="1"/>
          <p:nvPr/>
        </p:nvSpPr>
        <p:spPr>
          <a:xfrm>
            <a:off x="685800" y="2971800"/>
            <a:ext cx="3200400" cy="502920"/>
          </a:xfrm>
          <a:prstGeom prst="rect">
            <a:avLst/>
          </a:prstGeom>
          <a:noFill/>
        </p:spPr>
        <p:txBody>
          <a:bodyPr wrap="square" anchor="t">
            <a:spAutoFit/>
          </a:bodyPr>
          <a:lstStyle/>
          <a:p>
            <a:pPr algn="l">
              <a:spcAft>
                <a:spcPts val="600"/>
              </a:spcAft>
            </a:pPr>
            <a:r>
              <a:rPr sz="2000" b="1">
                <a:solidFill>
                  <a:srgbClr val="1C1915"/>
                </a:solidFill>
                <a:latin typeface="Calibri"/>
              </a:rPr>
              <a:t>.env</a:t>
            </a:r>
          </a:p>
        </p:txBody>
      </p:sp>
      <p:sp>
        <p:nvSpPr>
          <p:cNvPr id="10" name="TextBox 9"/>
          <p:cNvSpPr txBox="1"/>
          <p:nvPr/>
        </p:nvSpPr>
        <p:spPr>
          <a:xfrm>
            <a:off x="685800" y="3566160"/>
            <a:ext cx="3200400" cy="2103120"/>
          </a:xfrm>
          <a:prstGeom prst="rect">
            <a:avLst/>
          </a:prstGeom>
          <a:noFill/>
        </p:spPr>
        <p:txBody>
          <a:bodyPr wrap="square" anchor="t">
            <a:spAutoFit/>
          </a:bodyPr>
          <a:lstStyle/>
          <a:p>
            <a:pPr algn="l">
              <a:spcAft>
                <a:spcPts val="600"/>
              </a:spcAft>
            </a:pPr>
            <a:r>
              <a:rPr sz="1500" b="0">
                <a:solidFill>
                  <a:srgbClr val="6F675C"/>
                </a:solidFill>
                <a:latin typeface="Calibri"/>
              </a:rPr>
              <a:t>Database, Stripe, Slack tokens. Once pasted they live in chat history. Rotation is already incident response.</a:t>
            </a:r>
          </a:p>
        </p:txBody>
      </p:sp>
      <p:sp>
        <p:nvSpPr>
          <p:cNvPr id="11" name="Rounded Rectangle 10"/>
          <p:cNvSpPr/>
          <p:nvPr/>
        </p:nvSpPr>
        <p:spPr>
          <a:xfrm>
            <a:off x="4297680" y="2468880"/>
            <a:ext cx="3657600" cy="356616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651760"/>
            <a:ext cx="3200400" cy="274320"/>
          </a:xfrm>
          <a:prstGeom prst="rect">
            <a:avLst/>
          </a:prstGeom>
          <a:noFill/>
        </p:spPr>
        <p:txBody>
          <a:bodyPr wrap="square" anchor="t">
            <a:spAutoFit/>
          </a:bodyPr>
          <a:lstStyle/>
          <a:p>
            <a:pPr algn="l">
              <a:spcAft>
                <a:spcPts val="600"/>
              </a:spcAft>
            </a:pPr>
            <a:r>
              <a:rPr sz="1100" b="1">
                <a:solidFill>
                  <a:srgbClr val="508A8E"/>
                </a:solidFill>
                <a:latin typeface="Calibri"/>
              </a:rPr>
              <a:t>PERSON</a:t>
            </a:r>
          </a:p>
        </p:txBody>
      </p:sp>
      <p:sp>
        <p:nvSpPr>
          <p:cNvPr id="13" name="TextBox 12"/>
          <p:cNvSpPr txBox="1"/>
          <p:nvPr/>
        </p:nvSpPr>
        <p:spPr>
          <a:xfrm>
            <a:off x="4526280" y="2971800"/>
            <a:ext cx="3200400" cy="502920"/>
          </a:xfrm>
          <a:prstGeom prst="rect">
            <a:avLst/>
          </a:prstGeom>
          <a:noFill/>
        </p:spPr>
        <p:txBody>
          <a:bodyPr wrap="square" anchor="t">
            <a:spAutoFit/>
          </a:bodyPr>
          <a:lstStyle/>
          <a:p>
            <a:pPr algn="l">
              <a:spcAft>
                <a:spcPts val="600"/>
              </a:spcAft>
            </a:pPr>
            <a:r>
              <a:rPr sz="2000" b="1">
                <a:solidFill>
                  <a:srgbClr val="1C1915"/>
                </a:solidFill>
                <a:latin typeface="Calibri"/>
              </a:rPr>
              <a:t>Identifiers</a:t>
            </a:r>
          </a:p>
        </p:txBody>
      </p:sp>
      <p:sp>
        <p:nvSpPr>
          <p:cNvPr id="14" name="TextBox 13"/>
          <p:cNvSpPr txBox="1"/>
          <p:nvPr/>
        </p:nvSpPr>
        <p:spPr>
          <a:xfrm>
            <a:off x="4526280" y="3566160"/>
            <a:ext cx="3200400" cy="2103120"/>
          </a:xfrm>
          <a:prstGeom prst="rect">
            <a:avLst/>
          </a:prstGeom>
          <a:noFill/>
        </p:spPr>
        <p:txBody>
          <a:bodyPr wrap="square" anchor="t">
            <a:spAutoFit/>
          </a:bodyPr>
          <a:lstStyle/>
          <a:p>
            <a:pPr algn="l">
              <a:spcAft>
                <a:spcPts val="600"/>
              </a:spcAft>
            </a:pPr>
            <a:r>
              <a:rPr sz="1500" b="0">
                <a:solidFill>
                  <a:srgbClr val="6F675C"/>
                </a:solidFill>
                <a:latin typeface="Calibri"/>
              </a:rPr>
              <a:t>National ID, tax number, email, phone. Under GDPR that is disclosure outside the processing agreement.</a:t>
            </a:r>
          </a:p>
        </p:txBody>
      </p:sp>
      <p:sp>
        <p:nvSpPr>
          <p:cNvPr id="15" name="Rounded Rectangle 14"/>
          <p:cNvSpPr/>
          <p:nvPr/>
        </p:nvSpPr>
        <p:spPr>
          <a:xfrm>
            <a:off x="8138160" y="2468880"/>
            <a:ext cx="3657600" cy="3566160"/>
          </a:xfrm>
          <a:prstGeom prst="roundRect">
            <a:avLst>
              <a:gd name="adj" fmla="val 8000"/>
            </a:avLst>
          </a:prstGeom>
          <a:solidFill>
            <a:srgbClr val="F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651760"/>
            <a:ext cx="3200400" cy="274320"/>
          </a:xfrm>
          <a:prstGeom prst="rect">
            <a:avLst/>
          </a:prstGeom>
          <a:noFill/>
        </p:spPr>
        <p:txBody>
          <a:bodyPr wrap="square" anchor="t">
            <a:spAutoFit/>
          </a:bodyPr>
          <a:lstStyle/>
          <a:p>
            <a:pPr algn="l">
              <a:spcAft>
                <a:spcPts val="600"/>
              </a:spcAft>
            </a:pPr>
            <a:r>
              <a:rPr sz="1100" b="1">
                <a:solidFill>
                  <a:srgbClr val="AF78A2"/>
                </a:solidFill>
                <a:latin typeface="Calibri"/>
              </a:rPr>
              <a:t>COMPANY</a:t>
            </a:r>
          </a:p>
        </p:txBody>
      </p:sp>
      <p:sp>
        <p:nvSpPr>
          <p:cNvPr id="17" name="TextBox 16"/>
          <p:cNvSpPr txBox="1"/>
          <p:nvPr/>
        </p:nvSpPr>
        <p:spPr>
          <a:xfrm>
            <a:off x="8366760" y="2971800"/>
            <a:ext cx="3200400" cy="502920"/>
          </a:xfrm>
          <a:prstGeom prst="rect">
            <a:avLst/>
          </a:prstGeom>
          <a:noFill/>
        </p:spPr>
        <p:txBody>
          <a:bodyPr wrap="square" anchor="t">
            <a:spAutoFit/>
          </a:bodyPr>
          <a:lstStyle/>
          <a:p>
            <a:pPr algn="l">
              <a:spcAft>
                <a:spcPts val="600"/>
              </a:spcAft>
            </a:pPr>
            <a:r>
              <a:rPr sz="2000" b="1">
                <a:solidFill>
                  <a:srgbClr val="1C1915"/>
                </a:solidFill>
                <a:latin typeface="Calibri"/>
              </a:rPr>
              <a:t>Payroll</a:t>
            </a:r>
          </a:p>
        </p:txBody>
      </p:sp>
      <p:sp>
        <p:nvSpPr>
          <p:cNvPr id="18" name="TextBox 17"/>
          <p:cNvSpPr txBox="1"/>
          <p:nvPr/>
        </p:nvSpPr>
        <p:spPr>
          <a:xfrm>
            <a:off x="8366760" y="3566160"/>
            <a:ext cx="3200400" cy="2103120"/>
          </a:xfrm>
          <a:prstGeom prst="rect">
            <a:avLst/>
          </a:prstGeom>
          <a:noFill/>
        </p:spPr>
        <p:txBody>
          <a:bodyPr wrap="square" anchor="t">
            <a:spAutoFit/>
          </a:bodyPr>
          <a:lstStyle/>
          <a:p>
            <a:pPr algn="l">
              <a:spcAft>
                <a:spcPts val="600"/>
              </a:spcAft>
            </a:pPr>
            <a:r>
              <a:rPr sz="1500" b="0">
                <a:solidFill>
                  <a:srgbClr val="6F675C"/>
                </a:solidFill>
                <a:latin typeface="Calibri"/>
              </a:rPr>
              <a:t>A salary sheet is not context for a code review. It is an HR document in someone else’s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THE GAP</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Why the tools you already bought miss this</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05 / 18</a:t>
            </a:r>
          </a:p>
        </p:txBody>
      </p:sp>
      <p:sp>
        <p:nvSpPr>
          <p:cNvPr id="6" name="Rounded Rectangle 5"/>
          <p:cNvSpPr/>
          <p:nvPr/>
        </p:nvSpPr>
        <p:spPr>
          <a:xfrm>
            <a:off x="457200" y="160020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64792"/>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DLP on mail and USB</a:t>
            </a:r>
          </a:p>
        </p:txBody>
      </p:sp>
      <p:sp>
        <p:nvSpPr>
          <p:cNvPr id="8" name="TextBox 7"/>
          <p:cNvSpPr txBox="1"/>
          <p:nvPr/>
        </p:nvSpPr>
        <p:spPr>
          <a:xfrm>
            <a:off x="685800" y="2240280"/>
            <a:ext cx="5166360" cy="1280160"/>
          </a:xfrm>
          <a:prstGeom prst="rect">
            <a:avLst/>
          </a:prstGeom>
          <a:noFill/>
        </p:spPr>
        <p:txBody>
          <a:bodyPr wrap="square" anchor="t">
            <a:spAutoFit/>
          </a:bodyPr>
          <a:lstStyle/>
          <a:p>
            <a:pPr algn="l">
              <a:spcAft>
                <a:spcPts val="600"/>
              </a:spcAft>
            </a:pPr>
            <a:r>
              <a:rPr sz="1500" b="0">
                <a:solidFill>
                  <a:srgbClr val="6F675C"/>
                </a:solidFill>
                <a:latin typeface="Calibri"/>
              </a:rPr>
              <a:t>Sees an Outlook attachment. Does not see the composer on chatgpt.com or an agent window. Traffic is HTTPS, often from a personal account.</a:t>
            </a:r>
          </a:p>
        </p:txBody>
      </p:sp>
      <p:sp>
        <p:nvSpPr>
          <p:cNvPr id="9" name="Rounded Rectangle 8"/>
          <p:cNvSpPr/>
          <p:nvPr/>
        </p:nvSpPr>
        <p:spPr>
          <a:xfrm>
            <a:off x="6309360" y="160020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64792"/>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A proxy without a body</a:t>
            </a:r>
          </a:p>
        </p:txBody>
      </p:sp>
      <p:sp>
        <p:nvSpPr>
          <p:cNvPr id="11" name="TextBox 10"/>
          <p:cNvSpPr txBox="1"/>
          <p:nvPr/>
        </p:nvSpPr>
        <p:spPr>
          <a:xfrm>
            <a:off x="6537960" y="2240280"/>
            <a:ext cx="5166360" cy="1280160"/>
          </a:xfrm>
          <a:prstGeom prst="rect">
            <a:avLst/>
          </a:prstGeom>
          <a:noFill/>
        </p:spPr>
        <p:txBody>
          <a:bodyPr wrap="square" anchor="t">
            <a:spAutoFit/>
          </a:bodyPr>
          <a:lstStyle/>
          <a:p>
            <a:pPr algn="l">
              <a:spcAft>
                <a:spcPts val="600"/>
              </a:spcAft>
            </a:pPr>
            <a:r>
              <a:rPr sz="1500" b="0">
                <a:solidFill>
                  <a:srgbClr val="6F675C"/>
                </a:solidFill>
                <a:latin typeface="Calibri"/>
              </a:rPr>
              <a:t>On HTTPS you see the host (SNI), not the prompt. Reading the body means a CA and MITM — and you still will not break pinning on consumer chats.</a:t>
            </a:r>
          </a:p>
        </p:txBody>
      </p:sp>
      <p:sp>
        <p:nvSpPr>
          <p:cNvPr id="12" name="Rounded Rectangle 11"/>
          <p:cNvSpPr/>
          <p:nvPr/>
        </p:nvSpPr>
        <p:spPr>
          <a:xfrm>
            <a:off x="457200" y="384048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05072"/>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Training and a policy PDF</a:t>
            </a:r>
          </a:p>
        </p:txBody>
      </p:sp>
      <p:sp>
        <p:nvSpPr>
          <p:cNvPr id="14" name="TextBox 13"/>
          <p:cNvSpPr txBox="1"/>
          <p:nvPr/>
        </p:nvSpPr>
        <p:spPr>
          <a:xfrm>
            <a:off x="685800" y="4480560"/>
            <a:ext cx="5166360" cy="1280160"/>
          </a:xfrm>
          <a:prstGeom prst="rect">
            <a:avLst/>
          </a:prstGeom>
          <a:noFill/>
        </p:spPr>
        <p:txBody>
          <a:bodyPr wrap="square" anchor="t">
            <a:spAutoFit/>
          </a:bodyPr>
          <a:lstStyle/>
          <a:p>
            <a:pPr algn="l">
              <a:spcAft>
                <a:spcPts val="600"/>
              </a:spcAft>
            </a:pPr>
            <a:r>
              <a:rPr sz="1500" b="0">
                <a:solidFill>
                  <a:srgbClr val="6F675C"/>
                </a:solidFill>
                <a:latin typeface="Calibri"/>
              </a:rPr>
              <a:t>People know the ban. Then they have a deadline. One “here’s the whole folder” walks around a rule nobody enforces at Enter.</a:t>
            </a:r>
          </a:p>
        </p:txBody>
      </p:sp>
      <p:sp>
        <p:nvSpPr>
          <p:cNvPr id="15" name="Rounded Rectangle 14"/>
          <p:cNvSpPr/>
          <p:nvPr/>
        </p:nvSpPr>
        <p:spPr>
          <a:xfrm>
            <a:off x="6309360" y="384048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005072"/>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Agents outside the browser</a:t>
            </a:r>
          </a:p>
        </p:txBody>
      </p:sp>
      <p:sp>
        <p:nvSpPr>
          <p:cNvPr id="17" name="TextBox 16"/>
          <p:cNvSpPr txBox="1"/>
          <p:nvPr/>
        </p:nvSpPr>
        <p:spPr>
          <a:xfrm>
            <a:off x="6537960" y="4480560"/>
            <a:ext cx="5166360" cy="1280160"/>
          </a:xfrm>
          <a:prstGeom prst="rect">
            <a:avLst/>
          </a:prstGeom>
          <a:noFill/>
        </p:spPr>
        <p:txBody>
          <a:bodyPr wrap="square" anchor="t">
            <a:spAutoFit/>
          </a:bodyPr>
          <a:lstStyle/>
          <a:p>
            <a:pPr algn="l">
              <a:spcAft>
                <a:spcPts val="600"/>
              </a:spcAft>
            </a:pPr>
            <a:r>
              <a:rPr sz="1500" b="0">
                <a:solidFill>
                  <a:srgbClr val="6F675C"/>
                </a:solidFill>
                <a:latin typeface="Calibri"/>
              </a:rPr>
              <a:t>SDKs, cron, LangChain call the API directly. They need OPENAI_BASE_URL or a company proxy — the same decision engine.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DEFINITION</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AegIs is a gateway, not another chatbot.</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06 / 18</a:t>
            </a:r>
          </a:p>
        </p:txBody>
      </p:sp>
      <p:sp>
        <p:nvSpPr>
          <p:cNvPr id="6" name="TextBox 5"/>
          <p:cNvSpPr txBox="1"/>
          <p:nvPr/>
        </p:nvSpPr>
        <p:spPr>
          <a:xfrm>
            <a:off x="457200" y="1508760"/>
            <a:ext cx="11247120" cy="640080"/>
          </a:xfrm>
          <a:prstGeom prst="rect">
            <a:avLst/>
          </a:prstGeom>
          <a:noFill/>
        </p:spPr>
        <p:txBody>
          <a:bodyPr wrap="square" anchor="t">
            <a:spAutoFit/>
          </a:bodyPr>
          <a:lstStyle/>
          <a:p>
            <a:pPr algn="l">
              <a:spcAft>
                <a:spcPts val="600"/>
              </a:spcAft>
            </a:pPr>
            <a:r>
              <a:rPr sz="1600" b="0">
                <a:solidFill>
                  <a:srgbClr val="1C1915"/>
                </a:solidFill>
                <a:latin typeface="Calibri"/>
              </a:rPr>
              <a:t>It sits between whoever writes and the model. Every prompt is checked locally. Only the verdict decides whether anything goes out.</a:t>
            </a:r>
          </a:p>
        </p:txBody>
      </p:sp>
      <p:sp>
        <p:nvSpPr>
          <p:cNvPr id="7" name="Rounded Rectangle 6"/>
          <p:cNvSpPr/>
          <p:nvPr/>
        </p:nvSpPr>
        <p:spPr>
          <a:xfrm>
            <a:off x="457200" y="2286000"/>
            <a:ext cx="3657600" cy="338328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68880"/>
            <a:ext cx="3200400" cy="274320"/>
          </a:xfrm>
          <a:prstGeom prst="rect">
            <a:avLst/>
          </a:prstGeom>
          <a:noFill/>
        </p:spPr>
        <p:txBody>
          <a:bodyPr wrap="square" anchor="t">
            <a:spAutoFit/>
          </a:bodyPr>
          <a:lstStyle/>
          <a:p>
            <a:pPr algn="l">
              <a:spcAft>
                <a:spcPts val="600"/>
              </a:spcAft>
            </a:pPr>
            <a:r>
              <a:rPr sz="1200" b="1">
                <a:solidFill>
                  <a:srgbClr val="508A8E"/>
                </a:solidFill>
                <a:latin typeface="Calibri"/>
              </a:rPr>
              <a:t>01</a:t>
            </a:r>
          </a:p>
        </p:txBody>
      </p:sp>
      <p:sp>
        <p:nvSpPr>
          <p:cNvPr id="9" name="TextBox 8"/>
          <p:cNvSpPr txBox="1"/>
          <p:nvPr/>
        </p:nvSpPr>
        <p:spPr>
          <a:xfrm>
            <a:off x="685800" y="2880360"/>
            <a:ext cx="3200400" cy="822960"/>
          </a:xfrm>
          <a:prstGeom prst="rect">
            <a:avLst/>
          </a:prstGeom>
          <a:noFill/>
        </p:spPr>
        <p:txBody>
          <a:bodyPr wrap="square" anchor="t">
            <a:spAutoFit/>
          </a:bodyPr>
          <a:lstStyle/>
          <a:p>
            <a:pPr algn="l">
              <a:spcAft>
                <a:spcPts val="600"/>
              </a:spcAft>
            </a:pPr>
            <a:r>
              <a:rPr sz="2000" b="1">
                <a:solidFill>
                  <a:srgbClr val="1C1915"/>
                </a:solidFill>
                <a:latin typeface="Calibri"/>
              </a:rPr>
              <a:t>employee / script</a:t>
            </a:r>
          </a:p>
        </p:txBody>
      </p:sp>
      <p:sp>
        <p:nvSpPr>
          <p:cNvPr id="10" name="TextBox 9"/>
          <p:cNvSpPr txBox="1"/>
          <p:nvPr/>
        </p:nvSpPr>
        <p:spPr>
          <a:xfrm>
            <a:off x="685800" y="3794760"/>
            <a:ext cx="3200400" cy="1645920"/>
          </a:xfrm>
          <a:prstGeom prst="rect">
            <a:avLst/>
          </a:prstGeom>
          <a:noFill/>
        </p:spPr>
        <p:txBody>
          <a:bodyPr wrap="square" anchor="t">
            <a:spAutoFit/>
          </a:bodyPr>
          <a:lstStyle/>
          <a:p>
            <a:pPr algn="l">
              <a:spcAft>
                <a:spcPts val="600"/>
              </a:spcAft>
            </a:pPr>
            <a:r>
              <a:rPr sz="1500" b="0">
                <a:solidFill>
                  <a:srgbClr val="6F675C"/>
                </a:solidFill>
                <a:latin typeface="Calibri"/>
              </a:rPr>
              <a:t>Types in ChatGPT or Claude, or calls the API from code.</a:t>
            </a:r>
          </a:p>
        </p:txBody>
      </p:sp>
      <p:sp>
        <p:nvSpPr>
          <p:cNvPr id="11" name="Rounded Rectangle 10"/>
          <p:cNvSpPr/>
          <p:nvPr/>
        </p:nvSpPr>
        <p:spPr>
          <a:xfrm>
            <a:off x="4297680" y="2286000"/>
            <a:ext cx="3657600" cy="3383280"/>
          </a:xfrm>
          <a:prstGeom prst="roundRect">
            <a:avLst>
              <a:gd name="adj" fmla="val 8000"/>
            </a:avLst>
          </a:prstGeom>
          <a:solidFill>
            <a:srgbClr val="508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468880"/>
            <a:ext cx="3200400" cy="274320"/>
          </a:xfrm>
          <a:prstGeom prst="rect">
            <a:avLst/>
          </a:prstGeom>
          <a:noFill/>
        </p:spPr>
        <p:txBody>
          <a:bodyPr wrap="square" anchor="t">
            <a:spAutoFit/>
          </a:bodyPr>
          <a:lstStyle/>
          <a:p>
            <a:pPr algn="l">
              <a:spcAft>
                <a:spcPts val="600"/>
              </a:spcAft>
            </a:pPr>
            <a:r>
              <a:rPr sz="1200" b="1">
                <a:solidFill>
                  <a:srgbClr val="FFFAF3"/>
                </a:solidFill>
                <a:latin typeface="Calibri"/>
              </a:rPr>
              <a:t>02</a:t>
            </a:r>
          </a:p>
        </p:txBody>
      </p:sp>
      <p:sp>
        <p:nvSpPr>
          <p:cNvPr id="13" name="TextBox 12"/>
          <p:cNvSpPr txBox="1"/>
          <p:nvPr/>
        </p:nvSpPr>
        <p:spPr>
          <a:xfrm>
            <a:off x="4526280" y="2880360"/>
            <a:ext cx="3200400" cy="822960"/>
          </a:xfrm>
          <a:prstGeom prst="rect">
            <a:avLst/>
          </a:prstGeom>
          <a:noFill/>
        </p:spPr>
        <p:txBody>
          <a:bodyPr wrap="square" anchor="t">
            <a:spAutoFit/>
          </a:bodyPr>
          <a:lstStyle/>
          <a:p>
            <a:pPr algn="l">
              <a:spcAft>
                <a:spcPts val="600"/>
              </a:spcAft>
            </a:pPr>
            <a:r>
              <a:rPr sz="2000" b="1">
                <a:solidFill>
                  <a:srgbClr val="FFFAF3"/>
                </a:solidFill>
                <a:latin typeface="Calibri"/>
              </a:rPr>
              <a:t>AegIs gateway</a:t>
            </a:r>
          </a:p>
        </p:txBody>
      </p:sp>
      <p:sp>
        <p:nvSpPr>
          <p:cNvPr id="14" name="TextBox 13"/>
          <p:cNvSpPr txBox="1"/>
          <p:nvPr/>
        </p:nvSpPr>
        <p:spPr>
          <a:xfrm>
            <a:off x="4526280" y="3794760"/>
            <a:ext cx="3200400" cy="1645920"/>
          </a:xfrm>
          <a:prstGeom prst="rect">
            <a:avLst/>
          </a:prstGeom>
          <a:noFill/>
        </p:spPr>
        <p:txBody>
          <a:bodyPr wrap="square" anchor="t">
            <a:spAutoFit/>
          </a:bodyPr>
          <a:lstStyle/>
          <a:p>
            <a:pPr algn="l">
              <a:spcAft>
                <a:spcPts val="600"/>
              </a:spcAft>
            </a:pPr>
            <a:r>
              <a:rPr sz="1500" b="0">
                <a:solidFill>
                  <a:srgbClr val="E7F0F0"/>
                </a:solidFill>
                <a:latin typeface="Calibri"/>
              </a:rPr>
              <a:t>On this machine: finder, classifier, rules, role. Nothing is uploaded to the cloud to be checked.</a:t>
            </a:r>
          </a:p>
        </p:txBody>
      </p:sp>
      <p:sp>
        <p:nvSpPr>
          <p:cNvPr id="15" name="Rounded Rectangle 14"/>
          <p:cNvSpPr/>
          <p:nvPr/>
        </p:nvSpPr>
        <p:spPr>
          <a:xfrm>
            <a:off x="8138160" y="2286000"/>
            <a:ext cx="3657600" cy="3383280"/>
          </a:xfrm>
          <a:prstGeom prst="roundRect">
            <a:avLst>
              <a:gd name="adj" fmla="val 8000"/>
            </a:avLst>
          </a:prstGeom>
          <a:solidFill>
            <a:srgbClr val="F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468880"/>
            <a:ext cx="3200400" cy="274320"/>
          </a:xfrm>
          <a:prstGeom prst="rect">
            <a:avLst/>
          </a:prstGeom>
          <a:noFill/>
        </p:spPr>
        <p:txBody>
          <a:bodyPr wrap="square" anchor="t">
            <a:spAutoFit/>
          </a:bodyPr>
          <a:lstStyle/>
          <a:p>
            <a:pPr algn="l">
              <a:spcAft>
                <a:spcPts val="600"/>
              </a:spcAft>
            </a:pPr>
            <a:r>
              <a:rPr sz="1200" b="1">
                <a:solidFill>
                  <a:srgbClr val="508A8E"/>
                </a:solidFill>
                <a:latin typeface="Calibri"/>
              </a:rPr>
              <a:t>03</a:t>
            </a:r>
          </a:p>
        </p:txBody>
      </p:sp>
      <p:sp>
        <p:nvSpPr>
          <p:cNvPr id="17" name="TextBox 16"/>
          <p:cNvSpPr txBox="1"/>
          <p:nvPr/>
        </p:nvSpPr>
        <p:spPr>
          <a:xfrm>
            <a:off x="8366760" y="2880360"/>
            <a:ext cx="3200400" cy="822960"/>
          </a:xfrm>
          <a:prstGeom prst="rect">
            <a:avLst/>
          </a:prstGeom>
          <a:noFill/>
        </p:spPr>
        <p:txBody>
          <a:bodyPr wrap="square" anchor="t">
            <a:spAutoFit/>
          </a:bodyPr>
          <a:lstStyle/>
          <a:p>
            <a:pPr algn="l">
              <a:spcAft>
                <a:spcPts val="600"/>
              </a:spcAft>
            </a:pPr>
            <a:r>
              <a:rPr sz="2000" b="1">
                <a:solidFill>
                  <a:srgbClr val="1C1915"/>
                </a:solidFill>
                <a:latin typeface="Calibri"/>
              </a:rPr>
              <a:t>model gets it, or nothing</a:t>
            </a:r>
          </a:p>
        </p:txBody>
      </p:sp>
      <p:sp>
        <p:nvSpPr>
          <p:cNvPr id="18" name="TextBox 17"/>
          <p:cNvSpPr txBox="1"/>
          <p:nvPr/>
        </p:nvSpPr>
        <p:spPr>
          <a:xfrm>
            <a:off x="8366760" y="3794760"/>
            <a:ext cx="3200400" cy="1645920"/>
          </a:xfrm>
          <a:prstGeom prst="rect">
            <a:avLst/>
          </a:prstGeom>
          <a:noFill/>
        </p:spPr>
        <p:txBody>
          <a:bodyPr wrap="square" anchor="t">
            <a:spAutoFit/>
          </a:bodyPr>
          <a:lstStyle/>
          <a:p>
            <a:pPr algn="l">
              <a:spcAft>
                <a:spcPts val="600"/>
              </a:spcAft>
            </a:pPr>
            <a:r>
              <a:rPr sz="1500" b="0">
                <a:solidFill>
                  <a:srgbClr val="6F675C"/>
                </a:solidFill>
                <a:latin typeface="Calibri"/>
              </a:rPr>
              <a:t>Allow — original. Redact — masks. Block — the model never sees it; the dashboard gets an incident.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ENTRY POINTS</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Three doors, one engine.</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07 / 18</a:t>
            </a:r>
          </a:p>
        </p:txBody>
      </p:sp>
      <p:sp>
        <p:nvSpPr>
          <p:cNvPr id="6" name="Rounded Rectangle 5"/>
          <p:cNvSpPr/>
          <p:nvPr/>
        </p:nvSpPr>
        <p:spPr>
          <a:xfrm>
            <a:off x="457200" y="1600200"/>
            <a:ext cx="3657600" cy="45720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83080"/>
            <a:ext cx="3200400" cy="274320"/>
          </a:xfrm>
          <a:prstGeom prst="rect">
            <a:avLst/>
          </a:prstGeom>
          <a:noFill/>
        </p:spPr>
        <p:txBody>
          <a:bodyPr wrap="square" anchor="t">
            <a:spAutoFit/>
          </a:bodyPr>
          <a:lstStyle/>
          <a:p>
            <a:pPr algn="l">
              <a:spcAft>
                <a:spcPts val="600"/>
              </a:spcAft>
            </a:pPr>
            <a:r>
              <a:rPr sz="1100" b="1">
                <a:solidFill>
                  <a:srgbClr val="508A8E"/>
                </a:solidFill>
                <a:latin typeface="Calibri"/>
              </a:rPr>
              <a:t>BROWSER</a:t>
            </a:r>
          </a:p>
        </p:txBody>
      </p:sp>
      <p:sp>
        <p:nvSpPr>
          <p:cNvPr id="8" name="TextBox 7"/>
          <p:cNvSpPr txBox="1"/>
          <p:nvPr/>
        </p:nvSpPr>
        <p:spPr>
          <a:xfrm>
            <a:off x="685800" y="2148840"/>
            <a:ext cx="3200400" cy="640080"/>
          </a:xfrm>
          <a:prstGeom prst="rect">
            <a:avLst/>
          </a:prstGeom>
          <a:noFill/>
        </p:spPr>
        <p:txBody>
          <a:bodyPr wrap="square" anchor="t">
            <a:spAutoFit/>
          </a:bodyPr>
          <a:lstStyle/>
          <a:p>
            <a:pPr algn="l">
              <a:spcAft>
                <a:spcPts val="600"/>
              </a:spcAft>
            </a:pPr>
            <a:r>
              <a:rPr sz="2000" b="1">
                <a:solidFill>
                  <a:srgbClr val="1C1915"/>
                </a:solidFill>
                <a:latin typeface="Calibri"/>
              </a:rPr>
              <a:t>Chrome extension</a:t>
            </a:r>
          </a:p>
        </p:txBody>
      </p:sp>
      <p:sp>
        <p:nvSpPr>
          <p:cNvPr id="9" name="TextBox 8"/>
          <p:cNvSpPr txBox="1"/>
          <p:nvPr/>
        </p:nvSpPr>
        <p:spPr>
          <a:xfrm>
            <a:off x="685800" y="2880360"/>
            <a:ext cx="3200400" cy="3017520"/>
          </a:xfrm>
          <a:prstGeom prst="rect">
            <a:avLst/>
          </a:prstGeom>
          <a:noFill/>
        </p:spPr>
        <p:txBody>
          <a:bodyPr wrap="square" anchor="t">
            <a:spAutoFit/>
          </a:bodyPr>
          <a:lstStyle/>
          <a:p>
            <a:pPr algn="l">
              <a:spcAft>
                <a:spcPts val="600"/>
              </a:spcAft>
            </a:pPr>
            <a:r>
              <a:rPr sz="1500" b="0">
                <a:solidFill>
                  <a:srgbClr val="6F675C"/>
                </a:solidFill>
                <a:latin typeface="Calibri"/>
              </a:rPr>
              <a:t>Reads the composer on ChatGPT, Claude, Gemini, Copilot, Perplexity, Grok, DeepSeek. Before Enter it calls POST /v1/scan and can stop the send.</a:t>
            </a:r>
          </a:p>
        </p:txBody>
      </p:sp>
      <p:sp>
        <p:nvSpPr>
          <p:cNvPr id="10" name="Rounded Rectangle 9"/>
          <p:cNvSpPr/>
          <p:nvPr/>
        </p:nvSpPr>
        <p:spPr>
          <a:xfrm>
            <a:off x="4297680" y="1600200"/>
            <a:ext cx="3657600" cy="4572000"/>
          </a:xfrm>
          <a:prstGeom prst="roundRect">
            <a:avLst>
              <a:gd name="adj" fmla="val 8000"/>
            </a:avLst>
          </a:prstGeom>
          <a:solidFill>
            <a:srgbClr val="508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783080"/>
            <a:ext cx="3200400" cy="274320"/>
          </a:xfrm>
          <a:prstGeom prst="rect">
            <a:avLst/>
          </a:prstGeom>
          <a:noFill/>
        </p:spPr>
        <p:txBody>
          <a:bodyPr wrap="square" anchor="t">
            <a:spAutoFit/>
          </a:bodyPr>
          <a:lstStyle/>
          <a:p>
            <a:pPr algn="l">
              <a:spcAft>
                <a:spcPts val="600"/>
              </a:spcAft>
            </a:pPr>
            <a:r>
              <a:rPr sz="1100" b="1">
                <a:solidFill>
                  <a:srgbClr val="FFFAF3"/>
                </a:solidFill>
                <a:latin typeface="Calibri"/>
              </a:rPr>
              <a:t>AGENTS / SDK</a:t>
            </a:r>
          </a:p>
        </p:txBody>
      </p:sp>
      <p:sp>
        <p:nvSpPr>
          <p:cNvPr id="12" name="TextBox 11"/>
          <p:cNvSpPr txBox="1"/>
          <p:nvPr/>
        </p:nvSpPr>
        <p:spPr>
          <a:xfrm>
            <a:off x="4526280" y="2148840"/>
            <a:ext cx="3200400" cy="640080"/>
          </a:xfrm>
          <a:prstGeom prst="rect">
            <a:avLst/>
          </a:prstGeom>
          <a:noFill/>
        </p:spPr>
        <p:txBody>
          <a:bodyPr wrap="square" anchor="t">
            <a:spAutoFit/>
          </a:bodyPr>
          <a:lstStyle/>
          <a:p>
            <a:pPr algn="l">
              <a:spcAft>
                <a:spcPts val="600"/>
              </a:spcAft>
            </a:pPr>
            <a:r>
              <a:rPr sz="2000" b="1">
                <a:solidFill>
                  <a:srgbClr val="FFFAF3"/>
                </a:solidFill>
                <a:latin typeface="Calibri"/>
              </a:rPr>
              <a:t>API gateway</a:t>
            </a:r>
          </a:p>
        </p:txBody>
      </p:sp>
      <p:sp>
        <p:nvSpPr>
          <p:cNvPr id="13" name="TextBox 12"/>
          <p:cNvSpPr txBox="1"/>
          <p:nvPr/>
        </p:nvSpPr>
        <p:spPr>
          <a:xfrm>
            <a:off x="4526280" y="2880360"/>
            <a:ext cx="3200400" cy="3017520"/>
          </a:xfrm>
          <a:prstGeom prst="rect">
            <a:avLst/>
          </a:prstGeom>
          <a:noFill/>
        </p:spPr>
        <p:txBody>
          <a:bodyPr wrap="square" anchor="t">
            <a:spAutoFit/>
          </a:bodyPr>
          <a:lstStyle/>
          <a:p>
            <a:pPr algn="l">
              <a:spcAft>
                <a:spcPts val="600"/>
              </a:spcAft>
            </a:pPr>
            <a:r>
              <a:rPr sz="1500" b="0">
                <a:solidFill>
                  <a:srgbClr val="E7F0F0"/>
                </a:solidFill>
                <a:latin typeface="Calibri"/>
              </a:rPr>
              <a:t>OPENAI_BASE_URL=http://127.0.0.1:8080/net/openai/v1 (same idea for Anthropic, Ollama). Scans the prompt JSON, then forwards if allowed.</a:t>
            </a:r>
          </a:p>
        </p:txBody>
      </p:sp>
      <p:sp>
        <p:nvSpPr>
          <p:cNvPr id="14" name="Rounded Rectangle 13"/>
          <p:cNvSpPr/>
          <p:nvPr/>
        </p:nvSpPr>
        <p:spPr>
          <a:xfrm>
            <a:off x="8138160" y="1600200"/>
            <a:ext cx="3657600" cy="45720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783080"/>
            <a:ext cx="3200400" cy="274320"/>
          </a:xfrm>
          <a:prstGeom prst="rect">
            <a:avLst/>
          </a:prstGeom>
          <a:noFill/>
        </p:spPr>
        <p:txBody>
          <a:bodyPr wrap="square" anchor="t">
            <a:spAutoFit/>
          </a:bodyPr>
          <a:lstStyle/>
          <a:p>
            <a:pPr algn="l">
              <a:spcAft>
                <a:spcPts val="600"/>
              </a:spcAft>
            </a:pPr>
            <a:r>
              <a:rPr sz="1100" b="1">
                <a:solidFill>
                  <a:srgbClr val="508A8E"/>
                </a:solidFill>
                <a:latin typeface="Calibri"/>
              </a:rPr>
              <a:t>PROCESSES</a:t>
            </a:r>
          </a:p>
        </p:txBody>
      </p:sp>
      <p:sp>
        <p:nvSpPr>
          <p:cNvPr id="16" name="TextBox 15"/>
          <p:cNvSpPr txBox="1"/>
          <p:nvPr/>
        </p:nvSpPr>
        <p:spPr>
          <a:xfrm>
            <a:off x="8366760" y="2148840"/>
            <a:ext cx="3200400" cy="640080"/>
          </a:xfrm>
          <a:prstGeom prst="rect">
            <a:avLst/>
          </a:prstGeom>
          <a:noFill/>
        </p:spPr>
        <p:txBody>
          <a:bodyPr wrap="square" anchor="t">
            <a:spAutoFit/>
          </a:bodyPr>
          <a:lstStyle/>
          <a:p>
            <a:pPr algn="l">
              <a:spcAft>
                <a:spcPts val="600"/>
              </a:spcAft>
            </a:pPr>
            <a:r>
              <a:rPr sz="2000" b="1">
                <a:solidFill>
                  <a:srgbClr val="1C1915"/>
                </a:solidFill>
                <a:latin typeface="Calibri"/>
              </a:rPr>
              <a:t>HTTP proxy :8888</a:t>
            </a:r>
          </a:p>
        </p:txBody>
      </p:sp>
      <p:sp>
        <p:nvSpPr>
          <p:cNvPr id="17" name="TextBox 16"/>
          <p:cNvSpPr txBox="1"/>
          <p:nvPr/>
        </p:nvSpPr>
        <p:spPr>
          <a:xfrm>
            <a:off x="8366760" y="2880360"/>
            <a:ext cx="3200400" cy="3017520"/>
          </a:xfrm>
          <a:prstGeom prst="rect">
            <a:avLst/>
          </a:prstGeom>
          <a:noFill/>
        </p:spPr>
        <p:txBody>
          <a:bodyPr wrap="square" anchor="t">
            <a:spAutoFit/>
          </a:bodyPr>
          <a:lstStyle/>
          <a:p>
            <a:pPr algn="l">
              <a:spcAft>
                <a:spcPts val="600"/>
              </a:spcAft>
            </a:pPr>
            <a:r>
              <a:rPr sz="1500" b="0">
                <a:solidFill>
                  <a:srgbClr val="6F675C"/>
                </a:solidFill>
                <a:latin typeface="Calibri"/>
              </a:rPr>
              <a:t>For tools with HTTP_PROXY. On HTTP you see the body. On HTTPS without a CA — the host. Agents should use BASE_URL, not MITM-the-world.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VERDICT</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Three ways out of the gate</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08 / 18</a:t>
            </a:r>
          </a:p>
        </p:txBody>
      </p:sp>
      <p:sp>
        <p:nvSpPr>
          <p:cNvPr id="6" name="Rounded Rectangle 5"/>
          <p:cNvSpPr/>
          <p:nvPr/>
        </p:nvSpPr>
        <p:spPr>
          <a:xfrm>
            <a:off x="457200" y="1600200"/>
            <a:ext cx="3657600" cy="384048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83080"/>
            <a:ext cx="3200400" cy="274320"/>
          </a:xfrm>
          <a:prstGeom prst="rect">
            <a:avLst/>
          </a:prstGeom>
          <a:noFill/>
        </p:spPr>
        <p:txBody>
          <a:bodyPr wrap="square" anchor="t">
            <a:spAutoFit/>
          </a:bodyPr>
          <a:lstStyle/>
          <a:p>
            <a:pPr algn="l">
              <a:spcAft>
                <a:spcPts val="600"/>
              </a:spcAft>
            </a:pPr>
            <a:r>
              <a:rPr sz="1100" b="1">
                <a:solidFill>
                  <a:srgbClr val="508A8E"/>
                </a:solidFill>
                <a:latin typeface="Calibri"/>
              </a:rPr>
              <a:t>ALLOW</a:t>
            </a:r>
          </a:p>
        </p:txBody>
      </p:sp>
      <p:sp>
        <p:nvSpPr>
          <p:cNvPr id="8" name="TextBox 7"/>
          <p:cNvSpPr txBox="1"/>
          <p:nvPr/>
        </p:nvSpPr>
        <p:spPr>
          <a:xfrm>
            <a:off x="685800" y="2148840"/>
            <a:ext cx="3200400" cy="502920"/>
          </a:xfrm>
          <a:prstGeom prst="rect">
            <a:avLst/>
          </a:prstGeom>
          <a:noFill/>
        </p:spPr>
        <p:txBody>
          <a:bodyPr wrap="square" anchor="t">
            <a:spAutoFit/>
          </a:bodyPr>
          <a:lstStyle/>
          <a:p>
            <a:pPr algn="l">
              <a:spcAft>
                <a:spcPts val="600"/>
              </a:spcAft>
            </a:pPr>
            <a:r>
              <a:rPr sz="2200" b="1">
                <a:solidFill>
                  <a:srgbClr val="1C1915"/>
                </a:solidFill>
                <a:latin typeface="Calibri"/>
              </a:rPr>
              <a:t>Pass</a:t>
            </a:r>
          </a:p>
        </p:txBody>
      </p:sp>
      <p:sp>
        <p:nvSpPr>
          <p:cNvPr id="9" name="TextBox 8"/>
          <p:cNvSpPr txBox="1"/>
          <p:nvPr/>
        </p:nvSpPr>
        <p:spPr>
          <a:xfrm>
            <a:off x="685800" y="2788920"/>
            <a:ext cx="3200400" cy="2377440"/>
          </a:xfrm>
          <a:prstGeom prst="rect">
            <a:avLst/>
          </a:prstGeom>
          <a:noFill/>
        </p:spPr>
        <p:txBody>
          <a:bodyPr wrap="square" anchor="t">
            <a:spAutoFit/>
          </a:bodyPr>
          <a:lstStyle/>
          <a:p>
            <a:pPr algn="l">
              <a:spcAft>
                <a:spcPts val="600"/>
              </a:spcAft>
            </a:pPr>
            <a:r>
              <a:rPr sz="1600" b="0">
                <a:solidFill>
                  <a:srgbClr val="6F675C"/>
                </a:solidFill>
                <a:latin typeface="Calibri"/>
              </a:rPr>
              <a:t>No sensitive spans, or the role / whitelist allows it. The model gets the original. The audit line still exists.</a:t>
            </a:r>
          </a:p>
        </p:txBody>
      </p:sp>
      <p:sp>
        <p:nvSpPr>
          <p:cNvPr id="10" name="Rounded Rectangle 9"/>
          <p:cNvSpPr/>
          <p:nvPr/>
        </p:nvSpPr>
        <p:spPr>
          <a:xfrm>
            <a:off x="4297680" y="1600200"/>
            <a:ext cx="3657600" cy="3840480"/>
          </a:xfrm>
          <a:prstGeom prst="roundRect">
            <a:avLst>
              <a:gd name="adj" fmla="val 8000"/>
            </a:avLst>
          </a:prstGeom>
          <a:solidFill>
            <a:srgbClr val="EF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783080"/>
            <a:ext cx="3200400" cy="274320"/>
          </a:xfrm>
          <a:prstGeom prst="rect">
            <a:avLst/>
          </a:prstGeom>
          <a:noFill/>
        </p:spPr>
        <p:txBody>
          <a:bodyPr wrap="square" anchor="t">
            <a:spAutoFit/>
          </a:bodyPr>
          <a:lstStyle/>
          <a:p>
            <a:pPr algn="l">
              <a:spcAft>
                <a:spcPts val="600"/>
              </a:spcAft>
            </a:pPr>
            <a:r>
              <a:rPr sz="1100" b="1">
                <a:solidFill>
                  <a:srgbClr val="508A8E"/>
                </a:solidFill>
                <a:latin typeface="Calibri"/>
              </a:rPr>
              <a:t>REDACT</a:t>
            </a:r>
          </a:p>
        </p:txBody>
      </p:sp>
      <p:sp>
        <p:nvSpPr>
          <p:cNvPr id="12" name="TextBox 11"/>
          <p:cNvSpPr txBox="1"/>
          <p:nvPr/>
        </p:nvSpPr>
        <p:spPr>
          <a:xfrm>
            <a:off x="4526280" y="2148840"/>
            <a:ext cx="3200400" cy="502920"/>
          </a:xfrm>
          <a:prstGeom prst="rect">
            <a:avLst/>
          </a:prstGeom>
          <a:noFill/>
        </p:spPr>
        <p:txBody>
          <a:bodyPr wrap="square" anchor="t">
            <a:spAutoFit/>
          </a:bodyPr>
          <a:lstStyle/>
          <a:p>
            <a:pPr algn="l">
              <a:spcAft>
                <a:spcPts val="600"/>
              </a:spcAft>
            </a:pPr>
            <a:r>
              <a:rPr sz="2200" b="1">
                <a:solidFill>
                  <a:srgbClr val="1C1915"/>
                </a:solidFill>
                <a:latin typeface="Calibri"/>
              </a:rPr>
              <a:t>Redact</a:t>
            </a:r>
          </a:p>
        </p:txBody>
      </p:sp>
      <p:sp>
        <p:nvSpPr>
          <p:cNvPr id="13" name="TextBox 12"/>
          <p:cNvSpPr txBox="1"/>
          <p:nvPr/>
        </p:nvSpPr>
        <p:spPr>
          <a:xfrm>
            <a:off x="4526280" y="2788920"/>
            <a:ext cx="3200400" cy="2377440"/>
          </a:xfrm>
          <a:prstGeom prst="rect">
            <a:avLst/>
          </a:prstGeom>
          <a:noFill/>
        </p:spPr>
        <p:txBody>
          <a:bodyPr wrap="square" anchor="t">
            <a:spAutoFit/>
          </a:bodyPr>
          <a:lstStyle/>
          <a:p>
            <a:pPr algn="l">
              <a:spcAft>
                <a:spcPts val="600"/>
              </a:spcAft>
            </a:pPr>
            <a:r>
              <a:rPr sz="1600" b="0">
                <a:solidFill>
                  <a:srgbClr val="6F675C"/>
                </a:solidFill>
                <a:latin typeface="Calibri"/>
              </a:rPr>
              <a:t>IDs, email, card, phone become masks. The rest goes. The employee sees what was cut and can fix it.</a:t>
            </a:r>
          </a:p>
        </p:txBody>
      </p:sp>
      <p:sp>
        <p:nvSpPr>
          <p:cNvPr id="14" name="Rounded Rectangle 13"/>
          <p:cNvSpPr/>
          <p:nvPr/>
        </p:nvSpPr>
        <p:spPr>
          <a:xfrm>
            <a:off x="8138160" y="1600200"/>
            <a:ext cx="3657600" cy="3840480"/>
          </a:xfrm>
          <a:prstGeom prst="roundRect">
            <a:avLst>
              <a:gd name="adj" fmla="val 8000"/>
            </a:avLst>
          </a:prstGeom>
          <a:solidFill>
            <a:srgbClr val="F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783080"/>
            <a:ext cx="3200400" cy="274320"/>
          </a:xfrm>
          <a:prstGeom prst="rect">
            <a:avLst/>
          </a:prstGeom>
          <a:noFill/>
        </p:spPr>
        <p:txBody>
          <a:bodyPr wrap="square" anchor="t">
            <a:spAutoFit/>
          </a:bodyPr>
          <a:lstStyle/>
          <a:p>
            <a:pPr algn="l">
              <a:spcAft>
                <a:spcPts val="600"/>
              </a:spcAft>
            </a:pPr>
            <a:r>
              <a:rPr sz="1100" b="1">
                <a:solidFill>
                  <a:srgbClr val="AF78A2"/>
                </a:solidFill>
                <a:latin typeface="Calibri"/>
              </a:rPr>
              <a:t>BLOCK</a:t>
            </a:r>
          </a:p>
        </p:txBody>
      </p:sp>
      <p:sp>
        <p:nvSpPr>
          <p:cNvPr id="16" name="TextBox 15"/>
          <p:cNvSpPr txBox="1"/>
          <p:nvPr/>
        </p:nvSpPr>
        <p:spPr>
          <a:xfrm>
            <a:off x="8366760" y="2148840"/>
            <a:ext cx="3200400" cy="502920"/>
          </a:xfrm>
          <a:prstGeom prst="rect">
            <a:avLst/>
          </a:prstGeom>
          <a:noFill/>
        </p:spPr>
        <p:txBody>
          <a:bodyPr wrap="square" anchor="t">
            <a:spAutoFit/>
          </a:bodyPr>
          <a:lstStyle/>
          <a:p>
            <a:pPr algn="l">
              <a:spcAft>
                <a:spcPts val="600"/>
              </a:spcAft>
            </a:pPr>
            <a:r>
              <a:rPr sz="2200" b="1">
                <a:solidFill>
                  <a:srgbClr val="1C1915"/>
                </a:solidFill>
                <a:latin typeface="Calibri"/>
              </a:rPr>
              <a:t>Stop</a:t>
            </a:r>
          </a:p>
        </p:txBody>
      </p:sp>
      <p:sp>
        <p:nvSpPr>
          <p:cNvPr id="17" name="TextBox 16"/>
          <p:cNvSpPr txBox="1"/>
          <p:nvPr/>
        </p:nvSpPr>
        <p:spPr>
          <a:xfrm>
            <a:off x="8366760" y="2788920"/>
            <a:ext cx="3200400" cy="2377440"/>
          </a:xfrm>
          <a:prstGeom prst="rect">
            <a:avLst/>
          </a:prstGeom>
          <a:noFill/>
        </p:spPr>
        <p:txBody>
          <a:bodyPr wrap="square" anchor="t">
            <a:spAutoFit/>
          </a:bodyPr>
          <a:lstStyle/>
          <a:p>
            <a:pPr algn="l">
              <a:spcAft>
                <a:spcPts val="600"/>
              </a:spcAft>
            </a:pPr>
            <a:r>
              <a:rPr sz="1600" b="0">
                <a:solidFill>
                  <a:srgbClr val="6F675C"/>
                </a:solidFill>
                <a:latin typeface="Calibri"/>
              </a:rPr>
              <a:t>Secrets, critical IDs, jailbreak. Stop in the UI, 403 on the API. The model gets nothing. The dashboard gets an incident.</a:t>
            </a:r>
          </a:p>
        </p:txBody>
      </p:sp>
      <p:sp>
        <p:nvSpPr>
          <p:cNvPr id="18" name="TextBox 17"/>
          <p:cNvSpPr txBox="1"/>
          <p:nvPr/>
        </p:nvSpPr>
        <p:spPr>
          <a:xfrm>
            <a:off x="457200" y="5623560"/>
            <a:ext cx="11247120" cy="640080"/>
          </a:xfrm>
          <a:prstGeom prst="rect">
            <a:avLst/>
          </a:prstGeom>
          <a:noFill/>
        </p:spPr>
        <p:txBody>
          <a:bodyPr wrap="square" anchor="t">
            <a:spAutoFit/>
          </a:bodyPr>
          <a:lstStyle/>
          <a:p>
            <a:pPr algn="l">
              <a:spcAft>
                <a:spcPts val="600"/>
              </a:spcAft>
            </a:pPr>
            <a:r>
              <a:rPr sz="1400" b="0">
                <a:solidFill>
                  <a:srgbClr val="6F675C"/>
                </a:solidFill>
                <a:latin typeface="Calibri"/>
              </a:rPr>
              <a:t>Balanced preset: government_id, financial, credentials and attack → block; health → redact. An admin changes that with a slider, not a deploy.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DETECTION</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How we know it is an ID number</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09 / 18</a:t>
            </a:r>
          </a:p>
        </p:txBody>
      </p:sp>
      <p:sp>
        <p:nvSpPr>
          <p:cNvPr id="6" name="Rounded Rectangle 5"/>
          <p:cNvSpPr/>
          <p:nvPr/>
        </p:nvSpPr>
        <p:spPr>
          <a:xfrm>
            <a:off x="457200" y="1536192"/>
            <a:ext cx="11247120" cy="804672"/>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0784"/>
            <a:ext cx="2103120" cy="502920"/>
          </a:xfrm>
          <a:prstGeom prst="rect">
            <a:avLst/>
          </a:prstGeom>
          <a:noFill/>
        </p:spPr>
        <p:txBody>
          <a:bodyPr wrap="square" anchor="t">
            <a:spAutoFit/>
          </a:bodyPr>
          <a:lstStyle/>
          <a:p>
            <a:pPr algn="l">
              <a:spcAft>
                <a:spcPts val="600"/>
              </a:spcAft>
            </a:pPr>
            <a:r>
              <a:rPr sz="1500" b="1">
                <a:solidFill>
                  <a:srgbClr val="1C1915"/>
                </a:solidFill>
                <a:latin typeface="Calibri"/>
              </a:rPr>
              <a:t>Finder</a:t>
            </a:r>
          </a:p>
        </p:txBody>
      </p:sp>
      <p:sp>
        <p:nvSpPr>
          <p:cNvPr id="8" name="TextBox 7"/>
          <p:cNvSpPr txBox="1"/>
          <p:nvPr/>
        </p:nvSpPr>
        <p:spPr>
          <a:xfrm>
            <a:off x="2834640" y="1682496"/>
            <a:ext cx="8595360" cy="566928"/>
          </a:xfrm>
          <a:prstGeom prst="rect">
            <a:avLst/>
          </a:prstGeom>
          <a:noFill/>
        </p:spPr>
        <p:txBody>
          <a:bodyPr wrap="square" anchor="t">
            <a:spAutoFit/>
          </a:bodyPr>
          <a:lstStyle/>
          <a:p>
            <a:pPr algn="l">
              <a:spcAft>
                <a:spcPts val="600"/>
              </a:spcAft>
            </a:pPr>
            <a:r>
              <a:rPr sz="1400" b="0">
                <a:solidFill>
                  <a:srgbClr val="6F675C"/>
                </a:solidFill>
                <a:latin typeface="Calibri"/>
              </a:rPr>
              <a:t>Candidates: Laya pii regex families plus PESEL, NIP, REGON, IBAN, keys, tokens, passwords.</a:t>
            </a:r>
          </a:p>
        </p:txBody>
      </p:sp>
      <p:sp>
        <p:nvSpPr>
          <p:cNvPr id="9" name="Rounded Rectangle 8"/>
          <p:cNvSpPr/>
          <p:nvPr/>
        </p:nvSpPr>
        <p:spPr>
          <a:xfrm>
            <a:off x="457200" y="2404872"/>
            <a:ext cx="11247120" cy="804672"/>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69464"/>
            <a:ext cx="2103120" cy="502920"/>
          </a:xfrm>
          <a:prstGeom prst="rect">
            <a:avLst/>
          </a:prstGeom>
          <a:noFill/>
        </p:spPr>
        <p:txBody>
          <a:bodyPr wrap="square" anchor="t">
            <a:spAutoFit/>
          </a:bodyPr>
          <a:lstStyle/>
          <a:p>
            <a:pPr algn="l">
              <a:spcAft>
                <a:spcPts val="600"/>
              </a:spcAft>
            </a:pPr>
            <a:r>
              <a:rPr sz="1500" b="1">
                <a:solidFill>
                  <a:srgbClr val="1C1915"/>
                </a:solidFill>
                <a:latin typeface="Calibri"/>
              </a:rPr>
              <a:t>Laya · pii</a:t>
            </a:r>
          </a:p>
        </p:txBody>
      </p:sp>
      <p:sp>
        <p:nvSpPr>
          <p:cNvPr id="11" name="TextBox 10"/>
          <p:cNvSpPr txBox="1"/>
          <p:nvPr/>
        </p:nvSpPr>
        <p:spPr>
          <a:xfrm>
            <a:off x="2834640" y="2551176"/>
            <a:ext cx="8595360" cy="566928"/>
          </a:xfrm>
          <a:prstGeom prst="rect">
            <a:avLst/>
          </a:prstGeom>
          <a:noFill/>
        </p:spPr>
        <p:txBody>
          <a:bodyPr wrap="square" anchor="t">
            <a:spAutoFit/>
          </a:bodyPr>
          <a:lstStyle/>
          <a:p>
            <a:pPr algn="l">
              <a:spcAft>
                <a:spcPts val="600"/>
              </a:spcAft>
            </a:pPr>
            <a:r>
              <a:rPr sz="1400" b="0">
                <a:solidFill>
                  <a:srgbClr val="6F675C"/>
                </a:solidFill>
                <a:latin typeface="Calibri"/>
              </a:rPr>
              <a:t>Open decision classifier (Apache-2.0). 22 labels, calibrated probabilities. Does not generate text and does not send content to a closed API.</a:t>
            </a:r>
          </a:p>
        </p:txBody>
      </p:sp>
      <p:sp>
        <p:nvSpPr>
          <p:cNvPr id="12" name="Rounded Rectangle 11"/>
          <p:cNvSpPr/>
          <p:nvPr/>
        </p:nvSpPr>
        <p:spPr>
          <a:xfrm>
            <a:off x="457200" y="3273552"/>
            <a:ext cx="11247120" cy="804672"/>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438144"/>
            <a:ext cx="2103120" cy="502920"/>
          </a:xfrm>
          <a:prstGeom prst="rect">
            <a:avLst/>
          </a:prstGeom>
          <a:noFill/>
        </p:spPr>
        <p:txBody>
          <a:bodyPr wrap="square" anchor="t">
            <a:spAutoFit/>
          </a:bodyPr>
          <a:lstStyle/>
          <a:p>
            <a:pPr algn="l">
              <a:spcAft>
                <a:spcPts val="600"/>
              </a:spcAft>
            </a:pPr>
            <a:r>
              <a:rPr sz="1500" b="1">
                <a:solidFill>
                  <a:srgbClr val="1C1915"/>
                </a:solidFill>
                <a:latin typeface="Calibri"/>
              </a:rPr>
              <a:t>Hard rules</a:t>
            </a:r>
          </a:p>
        </p:txBody>
      </p:sp>
      <p:sp>
        <p:nvSpPr>
          <p:cNvPr id="14" name="TextBox 13"/>
          <p:cNvSpPr txBox="1"/>
          <p:nvPr/>
        </p:nvSpPr>
        <p:spPr>
          <a:xfrm>
            <a:off x="2834640" y="3419856"/>
            <a:ext cx="8595360" cy="566928"/>
          </a:xfrm>
          <a:prstGeom prst="rect">
            <a:avLst/>
          </a:prstGeom>
          <a:noFill/>
        </p:spPr>
        <p:txBody>
          <a:bodyPr wrap="square" anchor="t">
            <a:spAutoFit/>
          </a:bodyPr>
          <a:lstStyle/>
          <a:p>
            <a:pPr algn="l">
              <a:spcAft>
                <a:spcPts val="600"/>
              </a:spcAft>
            </a:pPr>
            <a:r>
              <a:rPr sz="1400" b="0">
                <a:solidFill>
                  <a:srgbClr val="6F675C"/>
                </a:solidFill>
                <a:latin typeface="Calibri"/>
              </a:rPr>
              <a:t>A valid PESEL / NIP, Luhn, IBAN and secrets stay even when the classifier says not pii. Checksums are not an opinion.</a:t>
            </a:r>
          </a:p>
        </p:txBody>
      </p:sp>
      <p:sp>
        <p:nvSpPr>
          <p:cNvPr id="15" name="Rounded Rectangle 14"/>
          <p:cNvSpPr/>
          <p:nvPr/>
        </p:nvSpPr>
        <p:spPr>
          <a:xfrm>
            <a:off x="457200" y="4142231"/>
            <a:ext cx="11247120" cy="804672"/>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306823"/>
            <a:ext cx="2103120" cy="502920"/>
          </a:xfrm>
          <a:prstGeom prst="rect">
            <a:avLst/>
          </a:prstGeom>
          <a:noFill/>
        </p:spPr>
        <p:txBody>
          <a:bodyPr wrap="square" anchor="t">
            <a:spAutoFit/>
          </a:bodyPr>
          <a:lstStyle/>
          <a:p>
            <a:pPr algn="l">
              <a:spcAft>
                <a:spcPts val="600"/>
              </a:spcAft>
            </a:pPr>
            <a:r>
              <a:rPr sz="1500" b="1">
                <a:solidFill>
                  <a:srgbClr val="1C1915"/>
                </a:solidFill>
                <a:latin typeface="Calibri"/>
              </a:rPr>
              <a:t>Signatures</a:t>
            </a:r>
          </a:p>
        </p:txBody>
      </p:sp>
      <p:sp>
        <p:nvSpPr>
          <p:cNvPr id="17" name="TextBox 16"/>
          <p:cNvSpPr txBox="1"/>
          <p:nvPr/>
        </p:nvSpPr>
        <p:spPr>
          <a:xfrm>
            <a:off x="2834640" y="4288535"/>
            <a:ext cx="8595360" cy="566928"/>
          </a:xfrm>
          <a:prstGeom prst="rect">
            <a:avLst/>
          </a:prstGeom>
          <a:noFill/>
        </p:spPr>
        <p:txBody>
          <a:bodyPr wrap="square" anchor="t">
            <a:spAutoFit/>
          </a:bodyPr>
          <a:lstStyle/>
          <a:p>
            <a:pPr algn="l">
              <a:spcAft>
                <a:spcPts val="600"/>
              </a:spcAft>
            </a:pPr>
            <a:r>
              <a:rPr sz="1400" b="0">
                <a:solidFill>
                  <a:srgbClr val="6F675C"/>
                </a:solidFill>
                <a:latin typeface="Calibri"/>
              </a:rPr>
              <a:t>Jailbreak, injection, exfiltration, tool abuse — OWASP LLM catalogue, CERT import, toggled per control.</a:t>
            </a:r>
          </a:p>
        </p:txBody>
      </p:sp>
      <p:sp>
        <p:nvSpPr>
          <p:cNvPr id="18" name="Rounded Rectangle 17"/>
          <p:cNvSpPr/>
          <p:nvPr/>
        </p:nvSpPr>
        <p:spPr>
          <a:xfrm>
            <a:off x="457200" y="5010912"/>
            <a:ext cx="11247120" cy="804672"/>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175504"/>
            <a:ext cx="2103120" cy="502920"/>
          </a:xfrm>
          <a:prstGeom prst="rect">
            <a:avLst/>
          </a:prstGeom>
          <a:noFill/>
        </p:spPr>
        <p:txBody>
          <a:bodyPr wrap="square" anchor="t">
            <a:spAutoFit/>
          </a:bodyPr>
          <a:lstStyle/>
          <a:p>
            <a:pPr algn="l">
              <a:spcAft>
                <a:spcPts val="600"/>
              </a:spcAft>
            </a:pPr>
            <a:r>
              <a:rPr sz="1500" b="1">
                <a:solidFill>
                  <a:srgbClr val="1C1915"/>
                </a:solidFill>
                <a:latin typeface="Calibri"/>
              </a:rPr>
              <a:t>Heuristic</a:t>
            </a:r>
          </a:p>
        </p:txBody>
      </p:sp>
      <p:sp>
        <p:nvSpPr>
          <p:cNvPr id="20" name="TextBox 19"/>
          <p:cNvSpPr txBox="1"/>
          <p:nvPr/>
        </p:nvSpPr>
        <p:spPr>
          <a:xfrm>
            <a:off x="2834640" y="5157216"/>
            <a:ext cx="8595360" cy="566928"/>
          </a:xfrm>
          <a:prstGeom prst="rect">
            <a:avLst/>
          </a:prstGeom>
          <a:noFill/>
        </p:spPr>
        <p:txBody>
          <a:bodyPr wrap="square" anchor="t">
            <a:spAutoFit/>
          </a:bodyPr>
          <a:lstStyle/>
          <a:p>
            <a:pPr algn="l">
              <a:spcAft>
                <a:spcPts val="600"/>
              </a:spcAft>
            </a:pPr>
            <a:r>
              <a:rPr sz="1400" b="0">
                <a:solidFill>
                  <a:srgbClr val="6F675C"/>
                </a:solidFill>
                <a:latin typeface="Calibri"/>
              </a:rPr>
              <a:t>Without weights (~850 MB) the gate boots: backend=heuristic. Semantics show as off; the rest works. Same product on a judge’s laptop.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POLICY · CATEGORIES</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Admin decides what counts — and how sure.</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10 / 18</a:t>
            </a:r>
          </a:p>
        </p:txBody>
      </p:sp>
      <p:sp>
        <p:nvSpPr>
          <p:cNvPr id="6" name="TextBox 5"/>
          <p:cNvSpPr txBox="1"/>
          <p:nvPr/>
        </p:nvSpPr>
        <p:spPr>
          <a:xfrm>
            <a:off x="457200" y="1508760"/>
            <a:ext cx="11247120" cy="640080"/>
          </a:xfrm>
          <a:prstGeom prst="rect">
            <a:avLst/>
          </a:prstGeom>
          <a:noFill/>
        </p:spPr>
        <p:txBody>
          <a:bodyPr wrap="square" anchor="t">
            <a:spAutoFit/>
          </a:bodyPr>
          <a:lstStyle/>
          <a:p>
            <a:pPr algn="l">
              <a:spcAft>
                <a:spcPts val="600"/>
              </a:spcAft>
            </a:pPr>
            <a:r>
              <a:rPr sz="1500" b="0">
                <a:solidFill>
                  <a:srgbClr val="1C1915"/>
                </a:solidFill>
                <a:latin typeface="Calibri"/>
              </a:rPr>
              <a:t>A category has a risk, an action and a confidence floor. Laya scores the span; below the slider it does not fire. Custom categories are added in the panel. policy.json reloads on mtime.</a:t>
            </a:r>
          </a:p>
        </p:txBody>
      </p:sp>
      <p:sp>
        <p:nvSpPr>
          <p:cNvPr id="7" name="Rounded Rectangle 6"/>
          <p:cNvSpPr/>
          <p:nvPr/>
        </p:nvSpPr>
        <p:spPr>
          <a:xfrm>
            <a:off x="457200" y="2240280"/>
            <a:ext cx="11247120" cy="566928"/>
          </a:xfrm>
          <a:prstGeom prst="roundRect">
            <a:avLst>
              <a:gd name="adj" fmla="val 8000"/>
            </a:avLst>
          </a:prstGeom>
          <a:solidFill>
            <a:srgbClr val="EF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350008"/>
            <a:ext cx="2926080" cy="365760"/>
          </a:xfrm>
          <a:prstGeom prst="rect">
            <a:avLst/>
          </a:prstGeom>
          <a:noFill/>
        </p:spPr>
        <p:txBody>
          <a:bodyPr wrap="square" anchor="t">
            <a:spAutoFit/>
          </a:bodyPr>
          <a:lstStyle/>
          <a:p>
            <a:pPr algn="l">
              <a:spcAft>
                <a:spcPts val="600"/>
              </a:spcAft>
            </a:pPr>
            <a:r>
              <a:rPr sz="1500" b="1">
                <a:solidFill>
                  <a:srgbClr val="1C1915"/>
                </a:solidFill>
                <a:latin typeface="Calibri"/>
              </a:rPr>
              <a:t>government_id</a:t>
            </a:r>
          </a:p>
        </p:txBody>
      </p:sp>
      <p:sp>
        <p:nvSpPr>
          <p:cNvPr id="9" name="TextBox 8"/>
          <p:cNvSpPr txBox="1"/>
          <p:nvPr/>
        </p:nvSpPr>
        <p:spPr>
          <a:xfrm>
            <a:off x="3657600" y="2350008"/>
            <a:ext cx="5669280" cy="365760"/>
          </a:xfrm>
          <a:prstGeom prst="rect">
            <a:avLst/>
          </a:prstGeom>
          <a:noFill/>
        </p:spPr>
        <p:txBody>
          <a:bodyPr wrap="square" anchor="t">
            <a:spAutoFit/>
          </a:bodyPr>
          <a:lstStyle/>
          <a:p>
            <a:pPr algn="l">
              <a:spcAft>
                <a:spcPts val="600"/>
              </a:spcAft>
            </a:pPr>
            <a:r>
              <a:rPr sz="1400" b="0">
                <a:solidFill>
                  <a:srgbClr val="6F675C"/>
                </a:solidFill>
                <a:latin typeface="Calibri"/>
              </a:rPr>
              <a:t>national ID, tax number, passport</a:t>
            </a:r>
          </a:p>
        </p:txBody>
      </p:sp>
      <p:sp>
        <p:nvSpPr>
          <p:cNvPr id="10" name="TextBox 9"/>
          <p:cNvSpPr txBox="1"/>
          <p:nvPr/>
        </p:nvSpPr>
        <p:spPr>
          <a:xfrm>
            <a:off x="9509760" y="2350008"/>
            <a:ext cx="1920240" cy="365760"/>
          </a:xfrm>
          <a:prstGeom prst="rect">
            <a:avLst/>
          </a:prstGeom>
          <a:noFill/>
        </p:spPr>
        <p:txBody>
          <a:bodyPr wrap="square" anchor="t">
            <a:spAutoFit/>
          </a:bodyPr>
          <a:lstStyle/>
          <a:p>
            <a:pPr algn="l">
              <a:spcAft>
                <a:spcPts val="600"/>
              </a:spcAft>
            </a:pPr>
            <a:r>
              <a:rPr sz="1400" b="1">
                <a:solidFill>
                  <a:srgbClr val="508A8E"/>
                </a:solidFill>
                <a:latin typeface="Calibri"/>
              </a:rPr>
              <a:t>block</a:t>
            </a:r>
          </a:p>
        </p:txBody>
      </p:sp>
      <p:sp>
        <p:nvSpPr>
          <p:cNvPr id="11" name="Rounded Rectangle 10"/>
          <p:cNvSpPr/>
          <p:nvPr/>
        </p:nvSpPr>
        <p:spPr>
          <a:xfrm>
            <a:off x="457200" y="2880360"/>
            <a:ext cx="11247120" cy="566928"/>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90088"/>
            <a:ext cx="2926080" cy="365760"/>
          </a:xfrm>
          <a:prstGeom prst="rect">
            <a:avLst/>
          </a:prstGeom>
          <a:noFill/>
        </p:spPr>
        <p:txBody>
          <a:bodyPr wrap="square" anchor="t">
            <a:spAutoFit/>
          </a:bodyPr>
          <a:lstStyle/>
          <a:p>
            <a:pPr algn="l">
              <a:spcAft>
                <a:spcPts val="600"/>
              </a:spcAft>
            </a:pPr>
            <a:r>
              <a:rPr sz="1500" b="1">
                <a:solidFill>
                  <a:srgbClr val="1C1915"/>
                </a:solidFill>
                <a:latin typeface="Calibri"/>
              </a:rPr>
              <a:t>credentials</a:t>
            </a:r>
          </a:p>
        </p:txBody>
      </p:sp>
      <p:sp>
        <p:nvSpPr>
          <p:cNvPr id="13" name="TextBox 12"/>
          <p:cNvSpPr txBox="1"/>
          <p:nvPr/>
        </p:nvSpPr>
        <p:spPr>
          <a:xfrm>
            <a:off x="3657600" y="2990088"/>
            <a:ext cx="5669280" cy="365760"/>
          </a:xfrm>
          <a:prstGeom prst="rect">
            <a:avLst/>
          </a:prstGeom>
          <a:noFill/>
        </p:spPr>
        <p:txBody>
          <a:bodyPr wrap="square" anchor="t">
            <a:spAutoFit/>
          </a:bodyPr>
          <a:lstStyle/>
          <a:p>
            <a:pPr algn="l">
              <a:spcAft>
                <a:spcPts val="600"/>
              </a:spcAft>
            </a:pPr>
            <a:r>
              <a:rPr sz="1400" b="0">
                <a:solidFill>
                  <a:srgbClr val="6F675C"/>
                </a:solidFill>
                <a:latin typeface="Calibri"/>
              </a:rPr>
              <a:t>API key, token, password</a:t>
            </a:r>
          </a:p>
        </p:txBody>
      </p:sp>
      <p:sp>
        <p:nvSpPr>
          <p:cNvPr id="14" name="TextBox 13"/>
          <p:cNvSpPr txBox="1"/>
          <p:nvPr/>
        </p:nvSpPr>
        <p:spPr>
          <a:xfrm>
            <a:off x="9509760" y="2990088"/>
            <a:ext cx="1920240" cy="365760"/>
          </a:xfrm>
          <a:prstGeom prst="rect">
            <a:avLst/>
          </a:prstGeom>
          <a:noFill/>
        </p:spPr>
        <p:txBody>
          <a:bodyPr wrap="square" anchor="t">
            <a:spAutoFit/>
          </a:bodyPr>
          <a:lstStyle/>
          <a:p>
            <a:pPr algn="l">
              <a:spcAft>
                <a:spcPts val="600"/>
              </a:spcAft>
            </a:pPr>
            <a:r>
              <a:rPr sz="1400" b="1">
                <a:solidFill>
                  <a:srgbClr val="508A8E"/>
                </a:solidFill>
                <a:latin typeface="Calibri"/>
              </a:rPr>
              <a:t>block</a:t>
            </a:r>
          </a:p>
        </p:txBody>
      </p:sp>
      <p:sp>
        <p:nvSpPr>
          <p:cNvPr id="15" name="Rounded Rectangle 14"/>
          <p:cNvSpPr/>
          <p:nvPr/>
        </p:nvSpPr>
        <p:spPr>
          <a:xfrm>
            <a:off x="457200" y="3520440"/>
            <a:ext cx="11247120" cy="566928"/>
          </a:xfrm>
          <a:prstGeom prst="roundRect">
            <a:avLst>
              <a:gd name="adj" fmla="val 8000"/>
            </a:avLst>
          </a:prstGeom>
          <a:solidFill>
            <a:srgbClr val="EF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30168"/>
            <a:ext cx="2926080" cy="365760"/>
          </a:xfrm>
          <a:prstGeom prst="rect">
            <a:avLst/>
          </a:prstGeom>
          <a:noFill/>
        </p:spPr>
        <p:txBody>
          <a:bodyPr wrap="square" anchor="t">
            <a:spAutoFit/>
          </a:bodyPr>
          <a:lstStyle/>
          <a:p>
            <a:pPr algn="l">
              <a:spcAft>
                <a:spcPts val="600"/>
              </a:spcAft>
            </a:pPr>
            <a:r>
              <a:rPr sz="1500" b="1">
                <a:solidFill>
                  <a:srgbClr val="1C1915"/>
                </a:solidFill>
                <a:latin typeface="Calibri"/>
              </a:rPr>
              <a:t>financial</a:t>
            </a:r>
          </a:p>
        </p:txBody>
      </p:sp>
      <p:sp>
        <p:nvSpPr>
          <p:cNvPr id="17" name="TextBox 16"/>
          <p:cNvSpPr txBox="1"/>
          <p:nvPr/>
        </p:nvSpPr>
        <p:spPr>
          <a:xfrm>
            <a:off x="3657600" y="3630168"/>
            <a:ext cx="5669280" cy="365760"/>
          </a:xfrm>
          <a:prstGeom prst="rect">
            <a:avLst/>
          </a:prstGeom>
          <a:noFill/>
        </p:spPr>
        <p:txBody>
          <a:bodyPr wrap="square" anchor="t">
            <a:spAutoFit/>
          </a:bodyPr>
          <a:lstStyle/>
          <a:p>
            <a:pPr algn="l">
              <a:spcAft>
                <a:spcPts val="600"/>
              </a:spcAft>
            </a:pPr>
            <a:r>
              <a:rPr sz="1400" b="0">
                <a:solidFill>
                  <a:srgbClr val="6F675C"/>
                </a:solidFill>
                <a:latin typeface="Calibri"/>
              </a:rPr>
              <a:t>card (Luhn), IBAN</a:t>
            </a:r>
          </a:p>
        </p:txBody>
      </p:sp>
      <p:sp>
        <p:nvSpPr>
          <p:cNvPr id="18" name="TextBox 17"/>
          <p:cNvSpPr txBox="1"/>
          <p:nvPr/>
        </p:nvSpPr>
        <p:spPr>
          <a:xfrm>
            <a:off x="9509760" y="3630168"/>
            <a:ext cx="1920240" cy="365760"/>
          </a:xfrm>
          <a:prstGeom prst="rect">
            <a:avLst/>
          </a:prstGeom>
          <a:noFill/>
        </p:spPr>
        <p:txBody>
          <a:bodyPr wrap="square" anchor="t">
            <a:spAutoFit/>
          </a:bodyPr>
          <a:lstStyle/>
          <a:p>
            <a:pPr algn="l">
              <a:spcAft>
                <a:spcPts val="600"/>
              </a:spcAft>
            </a:pPr>
            <a:r>
              <a:rPr sz="1400" b="1">
                <a:solidFill>
                  <a:srgbClr val="508A8E"/>
                </a:solidFill>
                <a:latin typeface="Calibri"/>
              </a:rPr>
              <a:t>block</a:t>
            </a:r>
          </a:p>
        </p:txBody>
      </p:sp>
      <p:sp>
        <p:nvSpPr>
          <p:cNvPr id="19" name="Rounded Rectangle 18"/>
          <p:cNvSpPr/>
          <p:nvPr/>
        </p:nvSpPr>
        <p:spPr>
          <a:xfrm>
            <a:off x="457200" y="4160519"/>
            <a:ext cx="11247120" cy="566928"/>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270247"/>
            <a:ext cx="2926080" cy="365760"/>
          </a:xfrm>
          <a:prstGeom prst="rect">
            <a:avLst/>
          </a:prstGeom>
          <a:noFill/>
        </p:spPr>
        <p:txBody>
          <a:bodyPr wrap="square" anchor="t">
            <a:spAutoFit/>
          </a:bodyPr>
          <a:lstStyle/>
          <a:p>
            <a:pPr algn="l">
              <a:spcAft>
                <a:spcPts val="600"/>
              </a:spcAft>
            </a:pPr>
            <a:r>
              <a:rPr sz="1500" b="1">
                <a:solidFill>
                  <a:srgbClr val="1C1915"/>
                </a:solidFill>
                <a:latin typeface="Calibri"/>
              </a:rPr>
              <a:t>attack</a:t>
            </a:r>
          </a:p>
        </p:txBody>
      </p:sp>
      <p:sp>
        <p:nvSpPr>
          <p:cNvPr id="21" name="TextBox 20"/>
          <p:cNvSpPr txBox="1"/>
          <p:nvPr/>
        </p:nvSpPr>
        <p:spPr>
          <a:xfrm>
            <a:off x="3657600" y="4270247"/>
            <a:ext cx="5669280" cy="365760"/>
          </a:xfrm>
          <a:prstGeom prst="rect">
            <a:avLst/>
          </a:prstGeom>
          <a:noFill/>
        </p:spPr>
        <p:txBody>
          <a:bodyPr wrap="square" anchor="t">
            <a:spAutoFit/>
          </a:bodyPr>
          <a:lstStyle/>
          <a:p>
            <a:pPr algn="l">
              <a:spcAft>
                <a:spcPts val="600"/>
              </a:spcAft>
            </a:pPr>
            <a:r>
              <a:rPr sz="1400" b="0">
                <a:solidFill>
                  <a:srgbClr val="6F675C"/>
                </a:solidFill>
                <a:latin typeface="Calibri"/>
              </a:rPr>
              <a:t>jailbreak, injection, exfiltration</a:t>
            </a:r>
          </a:p>
        </p:txBody>
      </p:sp>
      <p:sp>
        <p:nvSpPr>
          <p:cNvPr id="22" name="TextBox 21"/>
          <p:cNvSpPr txBox="1"/>
          <p:nvPr/>
        </p:nvSpPr>
        <p:spPr>
          <a:xfrm>
            <a:off x="9509760" y="4270247"/>
            <a:ext cx="1920240" cy="365760"/>
          </a:xfrm>
          <a:prstGeom prst="rect">
            <a:avLst/>
          </a:prstGeom>
          <a:noFill/>
        </p:spPr>
        <p:txBody>
          <a:bodyPr wrap="square" anchor="t">
            <a:spAutoFit/>
          </a:bodyPr>
          <a:lstStyle/>
          <a:p>
            <a:pPr algn="l">
              <a:spcAft>
                <a:spcPts val="600"/>
              </a:spcAft>
            </a:pPr>
            <a:r>
              <a:rPr sz="1400" b="1">
                <a:solidFill>
                  <a:srgbClr val="508A8E"/>
                </a:solidFill>
                <a:latin typeface="Calibri"/>
              </a:rPr>
              <a:t>block</a:t>
            </a:r>
          </a:p>
        </p:txBody>
      </p:sp>
      <p:sp>
        <p:nvSpPr>
          <p:cNvPr id="23" name="Rounded Rectangle 22"/>
          <p:cNvSpPr/>
          <p:nvPr/>
        </p:nvSpPr>
        <p:spPr>
          <a:xfrm>
            <a:off x="457200" y="4800600"/>
            <a:ext cx="11247120" cy="566928"/>
          </a:xfrm>
          <a:prstGeom prst="roundRect">
            <a:avLst>
              <a:gd name="adj" fmla="val 8000"/>
            </a:avLst>
          </a:prstGeom>
          <a:solidFill>
            <a:srgbClr val="EF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910328"/>
            <a:ext cx="2926080" cy="365760"/>
          </a:xfrm>
          <a:prstGeom prst="rect">
            <a:avLst/>
          </a:prstGeom>
          <a:noFill/>
        </p:spPr>
        <p:txBody>
          <a:bodyPr wrap="square" anchor="t">
            <a:spAutoFit/>
          </a:bodyPr>
          <a:lstStyle/>
          <a:p>
            <a:pPr algn="l">
              <a:spcAft>
                <a:spcPts val="600"/>
              </a:spcAft>
            </a:pPr>
            <a:r>
              <a:rPr sz="1500" b="1">
                <a:solidFill>
                  <a:srgbClr val="1C1915"/>
                </a:solidFill>
                <a:latin typeface="Calibri"/>
              </a:rPr>
              <a:t>health</a:t>
            </a:r>
          </a:p>
        </p:txBody>
      </p:sp>
      <p:sp>
        <p:nvSpPr>
          <p:cNvPr id="25" name="TextBox 24"/>
          <p:cNvSpPr txBox="1"/>
          <p:nvPr/>
        </p:nvSpPr>
        <p:spPr>
          <a:xfrm>
            <a:off x="3657600" y="4910328"/>
            <a:ext cx="5669280" cy="365760"/>
          </a:xfrm>
          <a:prstGeom prst="rect">
            <a:avLst/>
          </a:prstGeom>
          <a:noFill/>
        </p:spPr>
        <p:txBody>
          <a:bodyPr wrap="square" anchor="t">
            <a:spAutoFit/>
          </a:bodyPr>
          <a:lstStyle/>
          <a:p>
            <a:pPr algn="l">
              <a:spcAft>
                <a:spcPts val="600"/>
              </a:spcAft>
            </a:pPr>
            <a:r>
              <a:rPr sz="1400" b="0">
                <a:solidFill>
                  <a:srgbClr val="6F675C"/>
                </a:solidFill>
                <a:latin typeface="Calibri"/>
              </a:rPr>
              <a:t>medical history</a:t>
            </a:r>
          </a:p>
        </p:txBody>
      </p:sp>
      <p:sp>
        <p:nvSpPr>
          <p:cNvPr id="26" name="TextBox 25"/>
          <p:cNvSpPr txBox="1"/>
          <p:nvPr/>
        </p:nvSpPr>
        <p:spPr>
          <a:xfrm>
            <a:off x="9509760" y="4910328"/>
            <a:ext cx="1920240" cy="365760"/>
          </a:xfrm>
          <a:prstGeom prst="rect">
            <a:avLst/>
          </a:prstGeom>
          <a:noFill/>
        </p:spPr>
        <p:txBody>
          <a:bodyPr wrap="square" anchor="t">
            <a:spAutoFit/>
          </a:bodyPr>
          <a:lstStyle/>
          <a:p>
            <a:pPr algn="l">
              <a:spcAft>
                <a:spcPts val="600"/>
              </a:spcAft>
            </a:pPr>
            <a:r>
              <a:rPr sz="1400" b="1">
                <a:solidFill>
                  <a:srgbClr val="508A8E"/>
                </a:solidFill>
                <a:latin typeface="Calibri"/>
              </a:rPr>
              <a:t>redact</a:t>
            </a:r>
          </a:p>
        </p:txBody>
      </p:sp>
      <p:sp>
        <p:nvSpPr>
          <p:cNvPr id="27" name="Rounded Rectangle 26"/>
          <p:cNvSpPr/>
          <p:nvPr/>
        </p:nvSpPr>
        <p:spPr>
          <a:xfrm>
            <a:off x="457200" y="5440680"/>
            <a:ext cx="11247120" cy="566928"/>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550408"/>
            <a:ext cx="2926080" cy="365760"/>
          </a:xfrm>
          <a:prstGeom prst="rect">
            <a:avLst/>
          </a:prstGeom>
          <a:noFill/>
        </p:spPr>
        <p:txBody>
          <a:bodyPr wrap="square" anchor="t">
            <a:spAutoFit/>
          </a:bodyPr>
          <a:lstStyle/>
          <a:p>
            <a:pPr algn="l">
              <a:spcAft>
                <a:spcPts val="600"/>
              </a:spcAft>
            </a:pPr>
            <a:r>
              <a:rPr sz="1500" b="1">
                <a:solidFill>
                  <a:srgbClr val="1C1915"/>
                </a:solidFill>
                <a:latin typeface="Calibri"/>
              </a:rPr>
              <a:t>contact / person_name</a:t>
            </a:r>
          </a:p>
        </p:txBody>
      </p:sp>
      <p:sp>
        <p:nvSpPr>
          <p:cNvPr id="29" name="TextBox 28"/>
          <p:cNvSpPr txBox="1"/>
          <p:nvPr/>
        </p:nvSpPr>
        <p:spPr>
          <a:xfrm>
            <a:off x="3657600" y="5550408"/>
            <a:ext cx="5669280" cy="365760"/>
          </a:xfrm>
          <a:prstGeom prst="rect">
            <a:avLst/>
          </a:prstGeom>
          <a:noFill/>
        </p:spPr>
        <p:txBody>
          <a:bodyPr wrap="square" anchor="t">
            <a:spAutoFit/>
          </a:bodyPr>
          <a:lstStyle/>
          <a:p>
            <a:pPr algn="l">
              <a:spcAft>
                <a:spcPts val="600"/>
              </a:spcAft>
            </a:pPr>
            <a:r>
              <a:rPr sz="1400" b="0">
                <a:solidFill>
                  <a:srgbClr val="6F675C"/>
                </a:solidFill>
                <a:latin typeface="Calibri"/>
              </a:rPr>
              <a:t>email, phone, name — depends on destination and role</a:t>
            </a:r>
          </a:p>
        </p:txBody>
      </p:sp>
      <p:sp>
        <p:nvSpPr>
          <p:cNvPr id="30" name="TextBox 29"/>
          <p:cNvSpPr txBox="1"/>
          <p:nvPr/>
        </p:nvSpPr>
        <p:spPr>
          <a:xfrm>
            <a:off x="9509760" y="5550408"/>
            <a:ext cx="1920240" cy="365760"/>
          </a:xfrm>
          <a:prstGeom prst="rect">
            <a:avLst/>
          </a:prstGeom>
          <a:noFill/>
        </p:spPr>
        <p:txBody>
          <a:bodyPr wrap="square" anchor="t">
            <a:spAutoFit/>
          </a:bodyPr>
          <a:lstStyle/>
          <a:p>
            <a:pPr algn="l">
              <a:spcAft>
                <a:spcPts val="600"/>
              </a:spcAft>
            </a:pPr>
            <a:r>
              <a:rPr sz="1400" b="1">
                <a:solidFill>
                  <a:srgbClr val="508A8E"/>
                </a:solidFill>
                <a:latin typeface="Calibri"/>
              </a:rPr>
              <a:t>depends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POLICY · ROLES</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 role is an exception, not a job title.</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11 / 18</a:t>
            </a:r>
          </a:p>
        </p:txBody>
      </p:sp>
      <p:sp>
        <p:nvSpPr>
          <p:cNvPr id="6" name="TextBox 5"/>
          <p:cNvSpPr txBox="1"/>
          <p:nvPr/>
        </p:nvSpPr>
        <p:spPr>
          <a:xfrm>
            <a:off x="457200" y="1508760"/>
            <a:ext cx="11247120" cy="640080"/>
          </a:xfrm>
          <a:prstGeom prst="rect">
            <a:avLst/>
          </a:prstGeom>
          <a:noFill/>
        </p:spPr>
        <p:txBody>
          <a:bodyPr wrap="square" anchor="t">
            <a:spAutoFit/>
          </a:bodyPr>
          <a:lstStyle/>
          <a:p>
            <a:pPr algn="l">
              <a:spcAft>
                <a:spcPts val="600"/>
              </a:spcAft>
            </a:pPr>
            <a:r>
              <a:rPr sz="1500" b="0">
                <a:solidFill>
                  <a:srgbClr val="1C1915"/>
                </a:solidFill>
                <a:latin typeface="Calibri"/>
              </a:rPr>
              <a:t>A developer, a doctor and an accountant leak different things. A role says: this person may send these categories. The same category can block a developer and allow an accountant.</a:t>
            </a:r>
          </a:p>
        </p:txBody>
      </p:sp>
      <p:sp>
        <p:nvSpPr>
          <p:cNvPr id="7" name="Rounded Rectangle 6"/>
          <p:cNvSpPr/>
          <p:nvPr/>
        </p:nvSpPr>
        <p:spPr>
          <a:xfrm>
            <a:off x="457200" y="2286000"/>
            <a:ext cx="5623560" cy="18288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23160"/>
            <a:ext cx="5166360" cy="320040"/>
          </a:xfrm>
          <a:prstGeom prst="rect">
            <a:avLst/>
          </a:prstGeom>
          <a:noFill/>
        </p:spPr>
        <p:txBody>
          <a:bodyPr wrap="square" anchor="t">
            <a:spAutoFit/>
          </a:bodyPr>
          <a:lstStyle/>
          <a:p>
            <a:pPr algn="l">
              <a:spcAft>
                <a:spcPts val="600"/>
              </a:spcAft>
            </a:pPr>
            <a:r>
              <a:rPr sz="1800" b="1">
                <a:solidFill>
                  <a:srgbClr val="1C1915"/>
                </a:solidFill>
                <a:latin typeface="Calibri"/>
              </a:rPr>
              <a:t>Employee</a:t>
            </a:r>
          </a:p>
        </p:txBody>
      </p:sp>
      <p:sp>
        <p:nvSpPr>
          <p:cNvPr id="9" name="TextBox 8"/>
          <p:cNvSpPr txBox="1"/>
          <p:nvPr/>
        </p:nvSpPr>
        <p:spPr>
          <a:xfrm>
            <a:off x="685800" y="2743200"/>
            <a:ext cx="5166360" cy="274320"/>
          </a:xfrm>
          <a:prstGeom prst="rect">
            <a:avLst/>
          </a:prstGeom>
          <a:noFill/>
        </p:spPr>
        <p:txBody>
          <a:bodyPr wrap="square" anchor="t">
            <a:spAutoFit/>
          </a:bodyPr>
          <a:lstStyle/>
          <a:p>
            <a:pPr algn="l">
              <a:spcAft>
                <a:spcPts val="600"/>
              </a:spcAft>
            </a:pPr>
            <a:r>
              <a:rPr sz="1300" b="1">
                <a:solidFill>
                  <a:srgbClr val="508A8E"/>
                </a:solidFill>
                <a:latin typeface="Calibri"/>
              </a:rPr>
              <a:t>no exceptions</a:t>
            </a:r>
          </a:p>
        </p:txBody>
      </p:sp>
      <p:sp>
        <p:nvSpPr>
          <p:cNvPr id="10" name="TextBox 9"/>
          <p:cNvSpPr txBox="1"/>
          <p:nvPr/>
        </p:nvSpPr>
        <p:spPr>
          <a:xfrm>
            <a:off x="685800" y="3108960"/>
            <a:ext cx="5166360" cy="822960"/>
          </a:xfrm>
          <a:prstGeom prst="rect">
            <a:avLst/>
          </a:prstGeom>
          <a:noFill/>
        </p:spPr>
        <p:txBody>
          <a:bodyPr wrap="square" anchor="t">
            <a:spAutoFit/>
          </a:bodyPr>
          <a:lstStyle/>
          <a:p>
            <a:pPr algn="l">
              <a:spcAft>
                <a:spcPts val="600"/>
              </a:spcAft>
            </a:pPr>
            <a:r>
              <a:rPr sz="1400" b="0">
                <a:solidFill>
                  <a:srgbClr val="6F675C"/>
                </a:solidFill>
                <a:latin typeface="Calibri"/>
              </a:rPr>
              <a:t>Any PII excursion lands with a manager. Default for a new person.</a:t>
            </a:r>
          </a:p>
        </p:txBody>
      </p:sp>
      <p:sp>
        <p:nvSpPr>
          <p:cNvPr id="11" name="Rounded Rectangle 10"/>
          <p:cNvSpPr/>
          <p:nvPr/>
        </p:nvSpPr>
        <p:spPr>
          <a:xfrm>
            <a:off x="6309360" y="2286000"/>
            <a:ext cx="5623560" cy="18288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423160"/>
            <a:ext cx="5166360" cy="320040"/>
          </a:xfrm>
          <a:prstGeom prst="rect">
            <a:avLst/>
          </a:prstGeom>
          <a:noFill/>
        </p:spPr>
        <p:txBody>
          <a:bodyPr wrap="square" anchor="t">
            <a:spAutoFit/>
          </a:bodyPr>
          <a:lstStyle/>
          <a:p>
            <a:pPr algn="l">
              <a:spcAft>
                <a:spcPts val="600"/>
              </a:spcAft>
            </a:pPr>
            <a:r>
              <a:rPr sz="1800" b="1">
                <a:solidFill>
                  <a:srgbClr val="1C1915"/>
                </a:solidFill>
                <a:latin typeface="Calibri"/>
              </a:rPr>
              <a:t>HR</a:t>
            </a:r>
          </a:p>
        </p:txBody>
      </p:sp>
      <p:sp>
        <p:nvSpPr>
          <p:cNvPr id="13" name="TextBox 12"/>
          <p:cNvSpPr txBox="1"/>
          <p:nvPr/>
        </p:nvSpPr>
        <p:spPr>
          <a:xfrm>
            <a:off x="6537960" y="2743200"/>
            <a:ext cx="5166360" cy="274320"/>
          </a:xfrm>
          <a:prstGeom prst="rect">
            <a:avLst/>
          </a:prstGeom>
          <a:noFill/>
        </p:spPr>
        <p:txBody>
          <a:bodyPr wrap="square" anchor="t">
            <a:spAutoFit/>
          </a:bodyPr>
          <a:lstStyle/>
          <a:p>
            <a:pPr algn="l">
              <a:spcAft>
                <a:spcPts val="600"/>
              </a:spcAft>
            </a:pPr>
            <a:r>
              <a:rPr sz="1300" b="1">
                <a:solidFill>
                  <a:srgbClr val="508A8E"/>
                </a:solidFill>
                <a:latin typeface="Calibri"/>
              </a:rPr>
              <a:t>name, contact, demographic</a:t>
            </a:r>
          </a:p>
        </p:txBody>
      </p:sp>
      <p:sp>
        <p:nvSpPr>
          <p:cNvPr id="14" name="TextBox 13"/>
          <p:cNvSpPr txBox="1"/>
          <p:nvPr/>
        </p:nvSpPr>
        <p:spPr>
          <a:xfrm>
            <a:off x="6537960" y="3108960"/>
            <a:ext cx="5166360" cy="822960"/>
          </a:xfrm>
          <a:prstGeom prst="rect">
            <a:avLst/>
          </a:prstGeom>
          <a:noFill/>
        </p:spPr>
        <p:txBody>
          <a:bodyPr wrap="square" anchor="t">
            <a:spAutoFit/>
          </a:bodyPr>
          <a:lstStyle/>
          <a:p>
            <a:pPr algn="l">
              <a:spcAft>
                <a:spcPts val="600"/>
              </a:spcAft>
            </a:pPr>
            <a:r>
              <a:rPr sz="1400" b="0">
                <a:solidFill>
                  <a:srgbClr val="6F675C"/>
                </a:solidFill>
                <a:latin typeface="Calibri"/>
              </a:rPr>
              <a:t>Recruiting must paste a name and phone. National ID still no.</a:t>
            </a:r>
          </a:p>
        </p:txBody>
      </p:sp>
      <p:sp>
        <p:nvSpPr>
          <p:cNvPr id="15" name="Rounded Rectangle 14"/>
          <p:cNvSpPr/>
          <p:nvPr/>
        </p:nvSpPr>
        <p:spPr>
          <a:xfrm>
            <a:off x="457200" y="4251960"/>
            <a:ext cx="5623560" cy="18288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389120"/>
            <a:ext cx="5166360" cy="320040"/>
          </a:xfrm>
          <a:prstGeom prst="rect">
            <a:avLst/>
          </a:prstGeom>
          <a:noFill/>
        </p:spPr>
        <p:txBody>
          <a:bodyPr wrap="square" anchor="t">
            <a:spAutoFit/>
          </a:bodyPr>
          <a:lstStyle/>
          <a:p>
            <a:pPr algn="l">
              <a:spcAft>
                <a:spcPts val="600"/>
              </a:spcAft>
            </a:pPr>
            <a:r>
              <a:rPr sz="1800" b="1">
                <a:solidFill>
                  <a:srgbClr val="1C1915"/>
                </a:solidFill>
                <a:latin typeface="Calibri"/>
              </a:rPr>
              <a:t>Finance</a:t>
            </a:r>
          </a:p>
        </p:txBody>
      </p:sp>
      <p:sp>
        <p:nvSpPr>
          <p:cNvPr id="17" name="TextBox 16"/>
          <p:cNvSpPr txBox="1"/>
          <p:nvPr/>
        </p:nvSpPr>
        <p:spPr>
          <a:xfrm>
            <a:off x="685800" y="4709160"/>
            <a:ext cx="5166360" cy="274320"/>
          </a:xfrm>
          <a:prstGeom prst="rect">
            <a:avLst/>
          </a:prstGeom>
          <a:noFill/>
        </p:spPr>
        <p:txBody>
          <a:bodyPr wrap="square" anchor="t">
            <a:spAutoFit/>
          </a:bodyPr>
          <a:lstStyle/>
          <a:p>
            <a:pPr algn="l">
              <a:spcAft>
                <a:spcPts val="600"/>
              </a:spcAft>
            </a:pPr>
            <a:r>
              <a:rPr sz="1300" b="1">
                <a:solidFill>
                  <a:srgbClr val="508A8E"/>
                </a:solidFill>
                <a:latin typeface="Calibri"/>
              </a:rPr>
              <a:t>financial</a:t>
            </a:r>
          </a:p>
        </p:txBody>
      </p:sp>
      <p:sp>
        <p:nvSpPr>
          <p:cNvPr id="18" name="TextBox 17"/>
          <p:cNvSpPr txBox="1"/>
          <p:nvPr/>
        </p:nvSpPr>
        <p:spPr>
          <a:xfrm>
            <a:off x="685800" y="5074920"/>
            <a:ext cx="5166360" cy="822960"/>
          </a:xfrm>
          <a:prstGeom prst="rect">
            <a:avLst/>
          </a:prstGeom>
          <a:noFill/>
        </p:spPr>
        <p:txBody>
          <a:bodyPr wrap="square" anchor="t">
            <a:spAutoFit/>
          </a:bodyPr>
          <a:lstStyle/>
          <a:p>
            <a:pPr algn="l">
              <a:spcAft>
                <a:spcPts val="600"/>
              </a:spcAft>
            </a:pPr>
            <a:r>
              <a:rPr sz="1400" b="0">
                <a:solidFill>
                  <a:srgbClr val="6F675C"/>
                </a:solidFill>
                <a:latin typeface="Calibri"/>
              </a:rPr>
              <a:t>A vendor IBAN or test card is not an incident. An API key still is.</a:t>
            </a:r>
          </a:p>
        </p:txBody>
      </p:sp>
      <p:sp>
        <p:nvSpPr>
          <p:cNvPr id="19" name="Rounded Rectangle 18"/>
          <p:cNvSpPr/>
          <p:nvPr/>
        </p:nvSpPr>
        <p:spPr>
          <a:xfrm>
            <a:off x="6309360" y="4251960"/>
            <a:ext cx="5623560" cy="18288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389120"/>
            <a:ext cx="5166360" cy="320040"/>
          </a:xfrm>
          <a:prstGeom prst="rect">
            <a:avLst/>
          </a:prstGeom>
          <a:noFill/>
        </p:spPr>
        <p:txBody>
          <a:bodyPr wrap="square" anchor="t">
            <a:spAutoFit/>
          </a:bodyPr>
          <a:lstStyle/>
          <a:p>
            <a:pPr algn="l">
              <a:spcAft>
                <a:spcPts val="600"/>
              </a:spcAft>
            </a:pPr>
            <a:r>
              <a:rPr sz="1800" b="1">
                <a:solidFill>
                  <a:srgbClr val="1C1915"/>
                </a:solidFill>
                <a:latin typeface="Calibri"/>
              </a:rPr>
              <a:t>Manager</a:t>
            </a:r>
          </a:p>
        </p:txBody>
      </p:sp>
      <p:sp>
        <p:nvSpPr>
          <p:cNvPr id="21" name="TextBox 20"/>
          <p:cNvSpPr txBox="1"/>
          <p:nvPr/>
        </p:nvSpPr>
        <p:spPr>
          <a:xfrm>
            <a:off x="6537960" y="4709160"/>
            <a:ext cx="5166360" cy="274320"/>
          </a:xfrm>
          <a:prstGeom prst="rect">
            <a:avLst/>
          </a:prstGeom>
          <a:noFill/>
        </p:spPr>
        <p:txBody>
          <a:bodyPr wrap="square" anchor="t">
            <a:spAutoFit/>
          </a:bodyPr>
          <a:lstStyle/>
          <a:p>
            <a:pPr algn="l">
              <a:spcAft>
                <a:spcPts val="600"/>
              </a:spcAft>
            </a:pPr>
            <a:r>
              <a:rPr sz="1300" b="1">
                <a:solidFill>
                  <a:srgbClr val="508A8E"/>
                </a:solidFill>
                <a:latin typeface="Calibri"/>
              </a:rPr>
              <a:t>everything + override</a:t>
            </a:r>
          </a:p>
        </p:txBody>
      </p:sp>
      <p:sp>
        <p:nvSpPr>
          <p:cNvPr id="22" name="TextBox 21"/>
          <p:cNvSpPr txBox="1"/>
          <p:nvPr/>
        </p:nvSpPr>
        <p:spPr>
          <a:xfrm>
            <a:off x="6537960" y="5074920"/>
            <a:ext cx="5166360" cy="822960"/>
          </a:xfrm>
          <a:prstGeom prst="rect">
            <a:avLst/>
          </a:prstGeom>
          <a:noFill/>
        </p:spPr>
        <p:txBody>
          <a:bodyPr wrap="square" anchor="t">
            <a:spAutoFit/>
          </a:bodyPr>
          <a:lstStyle/>
          <a:p>
            <a:pPr algn="l">
              <a:spcAft>
                <a:spcPts val="600"/>
              </a:spcAft>
            </a:pPr>
            <a:r>
              <a:rPr sz="1400" b="0">
                <a:solidFill>
                  <a:srgbClr val="6F675C"/>
                </a:solidFill>
                <a:latin typeface="Calibri"/>
              </a:rPr>
              <a:t>Sees the dashboard and can override a block when it is genuinely needed.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POLICY · PEOPLE</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Assignment applies on the next message.</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12 / 18</a:t>
            </a:r>
          </a:p>
        </p:txBody>
      </p:sp>
      <p:sp>
        <p:nvSpPr>
          <p:cNvPr id="6" name="Rounded Rectangle 5"/>
          <p:cNvSpPr/>
          <p:nvPr/>
        </p:nvSpPr>
        <p:spPr>
          <a:xfrm>
            <a:off x="457200" y="160020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83080"/>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People page</a:t>
            </a:r>
          </a:p>
        </p:txBody>
      </p:sp>
      <p:sp>
        <p:nvSpPr>
          <p:cNvPr id="8" name="TextBox 7"/>
          <p:cNvSpPr txBox="1"/>
          <p:nvPr/>
        </p:nvSpPr>
        <p:spPr>
          <a:xfrm>
            <a:off x="685800" y="2286000"/>
            <a:ext cx="5166360" cy="1188720"/>
          </a:xfrm>
          <a:prstGeom prst="rect">
            <a:avLst/>
          </a:prstGeom>
          <a:noFill/>
        </p:spPr>
        <p:txBody>
          <a:bodyPr wrap="square" anchor="t">
            <a:spAutoFit/>
          </a:bodyPr>
          <a:lstStyle/>
          <a:p>
            <a:pPr algn="l">
              <a:spcAft>
                <a:spcPts val="600"/>
              </a:spcAft>
            </a:pPr>
            <a:r>
              <a:rPr sz="1500" b="0">
                <a:solidFill>
                  <a:srgbClr val="6F675C"/>
                </a:solidFill>
                <a:latin typeface="Calibri"/>
              </a:rPr>
              <a:t>Email, team, role_id. The extension and gateway know who is typing (account / X-Employee-Id). The verdict is against that role.</a:t>
            </a:r>
          </a:p>
        </p:txBody>
      </p:sp>
      <p:sp>
        <p:nvSpPr>
          <p:cNvPr id="9" name="Rounded Rectangle 8"/>
          <p:cNvSpPr/>
          <p:nvPr/>
        </p:nvSpPr>
        <p:spPr>
          <a:xfrm>
            <a:off x="6309360" y="1600200"/>
            <a:ext cx="5623560" cy="2057400"/>
          </a:xfrm>
          <a:prstGeom prst="roundRect">
            <a:avLst>
              <a:gd name="adj" fmla="val 8000"/>
            </a:avLst>
          </a:prstGeom>
          <a:solidFill>
            <a:srgbClr val="508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83080"/>
            <a:ext cx="5166360" cy="411480"/>
          </a:xfrm>
          <a:prstGeom prst="rect">
            <a:avLst/>
          </a:prstGeom>
          <a:noFill/>
        </p:spPr>
        <p:txBody>
          <a:bodyPr wrap="square" anchor="t">
            <a:spAutoFit/>
          </a:bodyPr>
          <a:lstStyle/>
          <a:p>
            <a:pPr algn="l">
              <a:spcAft>
                <a:spcPts val="600"/>
              </a:spcAft>
            </a:pPr>
            <a:r>
              <a:rPr sz="1800" b="1">
                <a:solidFill>
                  <a:srgbClr val="FFFAF3"/>
                </a:solidFill>
                <a:latin typeface="Calibri"/>
              </a:rPr>
              <a:t>No restart</a:t>
            </a:r>
          </a:p>
        </p:txBody>
      </p:sp>
      <p:sp>
        <p:nvSpPr>
          <p:cNvPr id="11" name="TextBox 10"/>
          <p:cNvSpPr txBox="1"/>
          <p:nvPr/>
        </p:nvSpPr>
        <p:spPr>
          <a:xfrm>
            <a:off x="6537960" y="2286000"/>
            <a:ext cx="5166360" cy="1188720"/>
          </a:xfrm>
          <a:prstGeom prst="rect">
            <a:avLst/>
          </a:prstGeom>
          <a:noFill/>
        </p:spPr>
        <p:txBody>
          <a:bodyPr wrap="square" anchor="t">
            <a:spAutoFit/>
          </a:bodyPr>
          <a:lstStyle/>
          <a:p>
            <a:pPr algn="l">
              <a:spcAft>
                <a:spcPts val="600"/>
              </a:spcAft>
            </a:pPr>
            <a:r>
              <a:rPr sz="1500" b="0">
                <a:solidFill>
                  <a:srgbClr val="E7F0F0"/>
                </a:solidFill>
                <a:latin typeface="Calibri"/>
              </a:rPr>
              <a:t>Move Magda from Employee to HR. The next Enter already uses the new policy. The banner shows the new version. No extension reload.</a:t>
            </a:r>
          </a:p>
        </p:txBody>
      </p:sp>
      <p:sp>
        <p:nvSpPr>
          <p:cNvPr id="12" name="Rounded Rectangle 11"/>
          <p:cNvSpPr/>
          <p:nvPr/>
        </p:nvSpPr>
        <p:spPr>
          <a:xfrm>
            <a:off x="457200" y="384048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23360"/>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Unknown sender</a:t>
            </a:r>
          </a:p>
        </p:txBody>
      </p:sp>
      <p:sp>
        <p:nvSpPr>
          <p:cNvPr id="14" name="TextBox 13"/>
          <p:cNvSpPr txBox="1"/>
          <p:nvPr/>
        </p:nvSpPr>
        <p:spPr>
          <a:xfrm>
            <a:off x="685800" y="4526280"/>
            <a:ext cx="5166360" cy="1188720"/>
          </a:xfrm>
          <a:prstGeom prst="rect">
            <a:avLst/>
          </a:prstGeom>
          <a:noFill/>
        </p:spPr>
        <p:txBody>
          <a:bodyPr wrap="square" anchor="t">
            <a:spAutoFit/>
          </a:bodyPr>
          <a:lstStyle/>
          <a:p>
            <a:pPr algn="l">
              <a:spcAft>
                <a:spcPts val="600"/>
              </a:spcAft>
            </a:pPr>
            <a:r>
              <a:rPr sz="1500" b="0">
                <a:solidFill>
                  <a:srgbClr val="6F675C"/>
                </a:solidFill>
                <a:latin typeface="Calibri"/>
              </a:rPr>
              <a:t>An unknown account lands in the unknown queue. It does not vanish in the logs and does not inherit a manager’s exceptions.</a:t>
            </a:r>
          </a:p>
        </p:txBody>
      </p:sp>
      <p:sp>
        <p:nvSpPr>
          <p:cNvPr id="15" name="Rounded Rectangle 14"/>
          <p:cNvSpPr/>
          <p:nvPr/>
        </p:nvSpPr>
        <p:spPr>
          <a:xfrm>
            <a:off x="6309360" y="3840480"/>
            <a:ext cx="5623560" cy="2057400"/>
          </a:xfrm>
          <a:prstGeom prst="roundRect">
            <a:avLst>
              <a:gd name="adj" fmla="val 8000"/>
            </a:avLst>
          </a:prstGeom>
          <a:solidFill>
            <a:srgbClr val="F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023360"/>
            <a:ext cx="5166360" cy="411480"/>
          </a:xfrm>
          <a:prstGeom prst="rect">
            <a:avLst/>
          </a:prstGeom>
          <a:noFill/>
        </p:spPr>
        <p:txBody>
          <a:bodyPr wrap="square" anchor="t">
            <a:spAutoFit/>
          </a:bodyPr>
          <a:lstStyle/>
          <a:p>
            <a:pPr algn="l">
              <a:spcAft>
                <a:spcPts val="600"/>
              </a:spcAft>
            </a:pPr>
            <a:r>
              <a:rPr sz="1800" b="1">
                <a:solidFill>
                  <a:srgbClr val="1C1915"/>
                </a:solidFill>
                <a:latin typeface="Calibri"/>
              </a:rPr>
              <a:t>Whitelist</a:t>
            </a:r>
          </a:p>
        </p:txBody>
      </p:sp>
      <p:sp>
        <p:nvSpPr>
          <p:cNvPr id="17" name="TextBox 16"/>
          <p:cNvSpPr txBox="1"/>
          <p:nvPr/>
        </p:nvSpPr>
        <p:spPr>
          <a:xfrm>
            <a:off x="6537960" y="4526280"/>
            <a:ext cx="5166360" cy="1188720"/>
          </a:xfrm>
          <a:prstGeom prst="rect">
            <a:avLst/>
          </a:prstGeom>
          <a:noFill/>
        </p:spPr>
        <p:txBody>
          <a:bodyPr wrap="square" anchor="t">
            <a:spAutoFit/>
          </a:bodyPr>
          <a:lstStyle/>
          <a:p>
            <a:pPr algn="l">
              <a:spcAft>
                <a:spcPts val="600"/>
              </a:spcAft>
            </a:pPr>
            <a:r>
              <a:rPr sz="1500" b="0">
                <a:solidFill>
                  <a:srgbClr val="6F675C"/>
                </a:solidFill>
                <a:latin typeface="Calibri"/>
              </a:rPr>
              <a:t>No-alert exceptions: a test address, a company account, a false positive. The whitelist does not switch the rest of the gate 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OUTCOME</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 block with no incident is theatre.</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13 / 18</a:t>
            </a:r>
          </a:p>
        </p:txBody>
      </p:sp>
      <p:sp>
        <p:nvSpPr>
          <p:cNvPr id="6" name="TextBox 5"/>
          <p:cNvSpPr txBox="1"/>
          <p:nvPr/>
        </p:nvSpPr>
        <p:spPr>
          <a:xfrm>
            <a:off x="457200" y="1508760"/>
            <a:ext cx="11247120" cy="502920"/>
          </a:xfrm>
          <a:prstGeom prst="rect">
            <a:avLst/>
          </a:prstGeom>
          <a:noFill/>
        </p:spPr>
        <p:txBody>
          <a:bodyPr wrap="square" anchor="t">
            <a:spAutoFit/>
          </a:bodyPr>
          <a:lstStyle/>
          <a:p>
            <a:pPr algn="l">
              <a:spcAft>
                <a:spcPts val="600"/>
              </a:spcAft>
            </a:pPr>
            <a:r>
              <a:rPr sz="1600" b="0">
                <a:solidFill>
                  <a:srgbClr val="1C1915"/>
                </a:solidFill>
                <a:latin typeface="Calibri"/>
              </a:rPr>
              <a:t>When AegIs stops a prompt, the dashboard gets a record you can read and act on.</a:t>
            </a:r>
          </a:p>
        </p:txBody>
      </p:sp>
      <p:sp>
        <p:nvSpPr>
          <p:cNvPr id="7" name="Rounded Rectangle 6"/>
          <p:cNvSpPr/>
          <p:nvPr/>
        </p:nvSpPr>
        <p:spPr>
          <a:xfrm>
            <a:off x="457200" y="2148840"/>
            <a:ext cx="5623560" cy="338328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31720"/>
            <a:ext cx="5212080" cy="365760"/>
          </a:xfrm>
          <a:prstGeom prst="rect">
            <a:avLst/>
          </a:prstGeom>
          <a:noFill/>
        </p:spPr>
        <p:txBody>
          <a:bodyPr wrap="square" anchor="t">
            <a:spAutoFit/>
          </a:bodyPr>
          <a:lstStyle/>
          <a:p>
            <a:pPr algn="l">
              <a:spcAft>
                <a:spcPts val="600"/>
              </a:spcAft>
            </a:pPr>
            <a:r>
              <a:rPr sz="1800" b="1">
                <a:solidFill>
                  <a:srgbClr val="1C1915"/>
                </a:solidFill>
                <a:latin typeface="Calibri"/>
              </a:rPr>
              <a:t>What is in the record</a:t>
            </a:r>
          </a:p>
        </p:txBody>
      </p:sp>
      <p:sp>
        <p:nvSpPr>
          <p:cNvPr id="9" name="TextBox 8"/>
          <p:cNvSpPr txBox="1"/>
          <p:nvPr/>
        </p:nvSpPr>
        <p:spPr>
          <a:xfrm>
            <a:off x="685800" y="2834640"/>
            <a:ext cx="5212080" cy="2468880"/>
          </a:xfrm>
          <a:prstGeom prst="rect">
            <a:avLst/>
          </a:prstGeom>
          <a:noFill/>
        </p:spPr>
        <p:txBody>
          <a:bodyPr wrap="square" anchor="t">
            <a:spAutoFit/>
          </a:bodyPr>
          <a:lstStyle/>
          <a:p>
            <a:pPr algn="l">
              <a:spcAft>
                <a:spcPts val="600"/>
              </a:spcAft>
            </a:pPr>
            <a:r>
              <a:rPr sz="1500" b="0">
                <a:solidFill>
                  <a:srgbClr val="6F675C"/>
                </a:solidFill>
                <a:latin typeface="Calibri"/>
              </a:rPr>
              <a:t>Who — person, email, team, role.
Where — chatgpt.com, OpenAI API, agent, proxy.
What — categories, labels, a masked snippet.
Why — controls, confidence, action.
When — timestamp and gate latency.</a:t>
            </a:r>
          </a:p>
        </p:txBody>
      </p:sp>
      <p:sp>
        <p:nvSpPr>
          <p:cNvPr id="10" name="Rounded Rectangle 9"/>
          <p:cNvSpPr/>
          <p:nvPr/>
        </p:nvSpPr>
        <p:spPr>
          <a:xfrm>
            <a:off x="6263640" y="2148840"/>
            <a:ext cx="5486400" cy="338328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331720"/>
            <a:ext cx="5074920" cy="365760"/>
          </a:xfrm>
          <a:prstGeom prst="rect">
            <a:avLst/>
          </a:prstGeom>
          <a:noFill/>
        </p:spPr>
        <p:txBody>
          <a:bodyPr wrap="square" anchor="t">
            <a:spAutoFit/>
          </a:bodyPr>
          <a:lstStyle/>
          <a:p>
            <a:pPr algn="l">
              <a:spcAft>
                <a:spcPts val="600"/>
              </a:spcAft>
            </a:pPr>
            <a:r>
              <a:rPr sz="1800" b="1">
                <a:solidFill>
                  <a:srgbClr val="1C1915"/>
                </a:solidFill>
                <a:latin typeface="Calibri"/>
              </a:rPr>
              <a:t>What a manager does</a:t>
            </a:r>
          </a:p>
        </p:txBody>
      </p:sp>
      <p:sp>
        <p:nvSpPr>
          <p:cNvPr id="12" name="TextBox 11"/>
          <p:cNvSpPr txBox="1"/>
          <p:nvPr/>
        </p:nvSpPr>
        <p:spPr>
          <a:xfrm>
            <a:off x="6492240" y="2834640"/>
            <a:ext cx="5074920" cy="2468880"/>
          </a:xfrm>
          <a:prstGeom prst="rect">
            <a:avLst/>
          </a:prstGeom>
          <a:noFill/>
        </p:spPr>
        <p:txBody>
          <a:bodyPr wrap="square" anchor="t">
            <a:spAutoFit/>
          </a:bodyPr>
          <a:lstStyle/>
          <a:p>
            <a:pPr algn="l">
              <a:spcAft>
                <a:spcPts val="600"/>
              </a:spcAft>
            </a:pPr>
            <a:r>
              <a:rPr sz="1500" b="0">
                <a:solidFill>
                  <a:srgbClr val="6F675C"/>
                </a:solidFill>
                <a:latin typeface="Calibri"/>
              </a:rPr>
              <a:t>A queue with filters, grouped repeats (5-minute dedupe).
Bulk actions, assignment, a note, a runbook.
CSV / JSONL export for audit.
Values stay masked; reveal itself is written to the log.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DASHBOARD</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Anything a judge can change is visible immediately.</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14 / 18</a:t>
            </a:r>
          </a:p>
        </p:txBody>
      </p:sp>
      <p:sp>
        <p:nvSpPr>
          <p:cNvPr id="6" name="Rounded Rectangle 5"/>
          <p:cNvSpPr/>
          <p:nvPr/>
        </p:nvSpPr>
        <p:spPr>
          <a:xfrm>
            <a:off x="457200" y="1554480"/>
            <a:ext cx="5623560" cy="210312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91640"/>
            <a:ext cx="5166360" cy="256032"/>
          </a:xfrm>
          <a:prstGeom prst="rect">
            <a:avLst/>
          </a:prstGeom>
          <a:noFill/>
        </p:spPr>
        <p:txBody>
          <a:bodyPr wrap="square" anchor="t">
            <a:spAutoFit/>
          </a:bodyPr>
          <a:lstStyle/>
          <a:p>
            <a:pPr algn="l">
              <a:spcAft>
                <a:spcPts val="600"/>
              </a:spcAft>
            </a:pPr>
            <a:r>
              <a:rPr sz="1100" b="1">
                <a:solidFill>
                  <a:srgbClr val="508A8E"/>
                </a:solidFill>
                <a:latin typeface="Calibri"/>
              </a:rPr>
              <a:t>MONITOR</a:t>
            </a:r>
          </a:p>
        </p:txBody>
      </p:sp>
      <p:sp>
        <p:nvSpPr>
          <p:cNvPr id="8" name="TextBox 7"/>
          <p:cNvSpPr txBox="1"/>
          <p:nvPr/>
        </p:nvSpPr>
        <p:spPr>
          <a:xfrm>
            <a:off x="685800" y="1965960"/>
            <a:ext cx="5166360" cy="365760"/>
          </a:xfrm>
          <a:prstGeom prst="rect">
            <a:avLst/>
          </a:prstGeom>
          <a:noFill/>
        </p:spPr>
        <p:txBody>
          <a:bodyPr wrap="square" anchor="t">
            <a:spAutoFit/>
          </a:bodyPr>
          <a:lstStyle/>
          <a:p>
            <a:pPr algn="l">
              <a:spcAft>
                <a:spcPts val="600"/>
              </a:spcAft>
            </a:pPr>
            <a:r>
              <a:rPr sz="1700" b="1">
                <a:solidFill>
                  <a:srgbClr val="1C1915"/>
                </a:solidFill>
                <a:latin typeface="Calibri"/>
              </a:rPr>
              <a:t>Posture, incidents, audit</a:t>
            </a:r>
          </a:p>
        </p:txBody>
      </p:sp>
      <p:sp>
        <p:nvSpPr>
          <p:cNvPr id="9" name="TextBox 8"/>
          <p:cNvSpPr txBox="1"/>
          <p:nvPr/>
        </p:nvSpPr>
        <p:spPr>
          <a:xfrm>
            <a:off x="685800" y="2423160"/>
            <a:ext cx="5166360" cy="1051560"/>
          </a:xfrm>
          <a:prstGeom prst="rect">
            <a:avLst/>
          </a:prstGeom>
          <a:noFill/>
        </p:spPr>
        <p:txBody>
          <a:bodyPr wrap="square" anchor="t">
            <a:spAutoFit/>
          </a:bodyPr>
          <a:lstStyle/>
          <a:p>
            <a:pPr algn="l">
              <a:spcAft>
                <a:spcPts val="600"/>
              </a:spcAft>
            </a:pPr>
            <a:r>
              <a:rPr sz="1400" b="0">
                <a:solidFill>
                  <a:srgbClr val="6F675C"/>
                </a:solidFill>
                <a:latin typeface="Calibri"/>
              </a:rPr>
              <a:t>A 0–100 score, today cards, 24h bars, top people. The queue. Append-only log. Telemetry p50/p95, RPM. Check-a-prompt is the same /v1/scan.</a:t>
            </a:r>
          </a:p>
        </p:txBody>
      </p:sp>
      <p:sp>
        <p:nvSpPr>
          <p:cNvPr id="10" name="Rounded Rectangle 9"/>
          <p:cNvSpPr/>
          <p:nvPr/>
        </p:nvSpPr>
        <p:spPr>
          <a:xfrm>
            <a:off x="6309360" y="1554480"/>
            <a:ext cx="5623560" cy="210312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91640"/>
            <a:ext cx="5166360" cy="256032"/>
          </a:xfrm>
          <a:prstGeom prst="rect">
            <a:avLst/>
          </a:prstGeom>
          <a:noFill/>
        </p:spPr>
        <p:txBody>
          <a:bodyPr wrap="square" anchor="t">
            <a:spAutoFit/>
          </a:bodyPr>
          <a:lstStyle/>
          <a:p>
            <a:pPr algn="l">
              <a:spcAft>
                <a:spcPts val="600"/>
              </a:spcAft>
            </a:pPr>
            <a:r>
              <a:rPr sz="1100" b="1">
                <a:solidFill>
                  <a:srgbClr val="508A8E"/>
                </a:solidFill>
                <a:latin typeface="Calibri"/>
              </a:rPr>
              <a:t>GOVERN</a:t>
            </a:r>
          </a:p>
        </p:txBody>
      </p:sp>
      <p:sp>
        <p:nvSpPr>
          <p:cNvPr id="12" name="TextBox 11"/>
          <p:cNvSpPr txBox="1"/>
          <p:nvPr/>
        </p:nvSpPr>
        <p:spPr>
          <a:xfrm>
            <a:off x="6537960" y="1965960"/>
            <a:ext cx="5166360" cy="365760"/>
          </a:xfrm>
          <a:prstGeom prst="rect">
            <a:avLst/>
          </a:prstGeom>
          <a:noFill/>
        </p:spPr>
        <p:txBody>
          <a:bodyPr wrap="square" anchor="t">
            <a:spAutoFit/>
          </a:bodyPr>
          <a:lstStyle/>
          <a:p>
            <a:pPr algn="l">
              <a:spcAft>
                <a:spcPts val="600"/>
              </a:spcAft>
            </a:pPr>
            <a:r>
              <a:rPr sz="1700" b="1">
                <a:solidFill>
                  <a:srgbClr val="1C1915"/>
                </a:solidFill>
                <a:latin typeface="Calibri"/>
              </a:rPr>
              <a:t>Controls and policy</a:t>
            </a:r>
          </a:p>
        </p:txBody>
      </p:sp>
      <p:sp>
        <p:nvSpPr>
          <p:cNvPr id="13" name="TextBox 12"/>
          <p:cNvSpPr txBox="1"/>
          <p:nvPr/>
        </p:nvSpPr>
        <p:spPr>
          <a:xfrm>
            <a:off x="6537960" y="2423160"/>
            <a:ext cx="5166360" cy="1051560"/>
          </a:xfrm>
          <a:prstGeom prst="rect">
            <a:avLst/>
          </a:prstGeom>
          <a:noFill/>
        </p:spPr>
        <p:txBody>
          <a:bodyPr wrap="square" anchor="t">
            <a:spAutoFit/>
          </a:bodyPr>
          <a:lstStyle/>
          <a:p>
            <a:pPr algn="l">
              <a:spcAft>
                <a:spcPts val="600"/>
              </a:spcAft>
            </a:pPr>
            <a:r>
              <a:rPr sz="1400" b="0">
                <a:solidFill>
                  <a:srgbClr val="6F675C"/>
                </a:solidFill>
                <a:latin typeface="Calibri"/>
              </a:rPr>
              <a:t>Toggle checksums, classifier, signatures, roles. Threshold slider. Action per category and destination. Presets. History of policy.json.</a:t>
            </a:r>
          </a:p>
        </p:txBody>
      </p:sp>
      <p:sp>
        <p:nvSpPr>
          <p:cNvPr id="14" name="Rounded Rectangle 13"/>
          <p:cNvSpPr/>
          <p:nvPr/>
        </p:nvSpPr>
        <p:spPr>
          <a:xfrm>
            <a:off x="457200" y="3840480"/>
            <a:ext cx="5623560" cy="2103120"/>
          </a:xfrm>
          <a:prstGeom prst="roundRect">
            <a:avLst>
              <a:gd name="adj" fmla="val 8000"/>
            </a:avLst>
          </a:prstGeom>
          <a:solidFill>
            <a:srgbClr val="508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77640"/>
            <a:ext cx="5166360" cy="256032"/>
          </a:xfrm>
          <a:prstGeom prst="rect">
            <a:avLst/>
          </a:prstGeom>
          <a:noFill/>
        </p:spPr>
        <p:txBody>
          <a:bodyPr wrap="square" anchor="t">
            <a:spAutoFit/>
          </a:bodyPr>
          <a:lstStyle/>
          <a:p>
            <a:pPr algn="l">
              <a:spcAft>
                <a:spcPts val="600"/>
              </a:spcAft>
            </a:pPr>
            <a:r>
              <a:rPr sz="1100" b="1">
                <a:solidFill>
                  <a:srgbClr val="FFFAF3"/>
                </a:solidFill>
                <a:latin typeface="Calibri"/>
              </a:rPr>
              <a:t>LIVE</a:t>
            </a:r>
          </a:p>
        </p:txBody>
      </p:sp>
      <p:sp>
        <p:nvSpPr>
          <p:cNvPr id="16" name="TextBox 15"/>
          <p:cNvSpPr txBox="1"/>
          <p:nvPr/>
        </p:nvSpPr>
        <p:spPr>
          <a:xfrm>
            <a:off x="685800" y="4251960"/>
            <a:ext cx="5166360" cy="365760"/>
          </a:xfrm>
          <a:prstGeom prst="rect">
            <a:avLst/>
          </a:prstGeom>
          <a:noFill/>
        </p:spPr>
        <p:txBody>
          <a:bodyPr wrap="square" anchor="t">
            <a:spAutoFit/>
          </a:bodyPr>
          <a:lstStyle/>
          <a:p>
            <a:pPr algn="l">
              <a:spcAft>
                <a:spcPts val="600"/>
              </a:spcAft>
            </a:pPr>
            <a:r>
              <a:rPr sz="1700" b="1">
                <a:solidFill>
                  <a:srgbClr val="FFFAF3"/>
                </a:solidFill>
                <a:latin typeface="Calibri"/>
              </a:rPr>
              <a:t>Next request, not a restart</a:t>
            </a:r>
          </a:p>
        </p:txBody>
      </p:sp>
      <p:sp>
        <p:nvSpPr>
          <p:cNvPr id="17" name="TextBox 16"/>
          <p:cNvSpPr txBox="1"/>
          <p:nvPr/>
        </p:nvSpPr>
        <p:spPr>
          <a:xfrm>
            <a:off x="685800" y="4709160"/>
            <a:ext cx="5166360" cy="1051560"/>
          </a:xfrm>
          <a:prstGeom prst="rect">
            <a:avLst/>
          </a:prstGeom>
          <a:noFill/>
        </p:spPr>
        <p:txBody>
          <a:bodyPr wrap="square" anchor="t">
            <a:spAutoFit/>
          </a:bodyPr>
          <a:lstStyle/>
          <a:p>
            <a:pPr algn="l">
              <a:spcAft>
                <a:spcPts val="600"/>
              </a:spcAft>
            </a:pPr>
            <a:r>
              <a:rPr sz="1400" b="0">
                <a:solidFill>
                  <a:srgbClr val="E7F0F0"/>
                </a:solidFill>
                <a:latin typeface="Calibri"/>
              </a:rPr>
              <a:t>Change the threshold or a role = Policy reloaded (version N). GET /health returns the new version. Demo chat walks /net/openai.</a:t>
            </a:r>
          </a:p>
        </p:txBody>
      </p:sp>
      <p:sp>
        <p:nvSpPr>
          <p:cNvPr id="18" name="Rounded Rectangle 17"/>
          <p:cNvSpPr/>
          <p:nvPr/>
        </p:nvSpPr>
        <p:spPr>
          <a:xfrm>
            <a:off x="6309360" y="3840480"/>
            <a:ext cx="5623560" cy="210312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3977640"/>
            <a:ext cx="5166360" cy="256032"/>
          </a:xfrm>
          <a:prstGeom prst="rect">
            <a:avLst/>
          </a:prstGeom>
          <a:noFill/>
        </p:spPr>
        <p:txBody>
          <a:bodyPr wrap="square" anchor="t">
            <a:spAutoFit/>
          </a:bodyPr>
          <a:lstStyle/>
          <a:p>
            <a:pPr algn="l">
              <a:spcAft>
                <a:spcPts val="600"/>
              </a:spcAft>
            </a:pPr>
            <a:r>
              <a:rPr sz="1100" b="1">
                <a:solidFill>
                  <a:srgbClr val="508A8E"/>
                </a:solidFill>
                <a:latin typeface="Calibri"/>
              </a:rPr>
              <a:t>DEGRADATION</a:t>
            </a:r>
          </a:p>
        </p:txBody>
      </p:sp>
      <p:sp>
        <p:nvSpPr>
          <p:cNvPr id="20" name="TextBox 19"/>
          <p:cNvSpPr txBox="1"/>
          <p:nvPr/>
        </p:nvSpPr>
        <p:spPr>
          <a:xfrm>
            <a:off x="6537960" y="4251960"/>
            <a:ext cx="5166360" cy="365760"/>
          </a:xfrm>
          <a:prstGeom prst="rect">
            <a:avLst/>
          </a:prstGeom>
          <a:noFill/>
        </p:spPr>
        <p:txBody>
          <a:bodyPr wrap="square" anchor="t">
            <a:spAutoFit/>
          </a:bodyPr>
          <a:lstStyle/>
          <a:p>
            <a:pPr algn="l">
              <a:spcAft>
                <a:spcPts val="600"/>
              </a:spcAft>
            </a:pPr>
            <a:r>
              <a:rPr sz="1700" b="1">
                <a:solidFill>
                  <a:srgbClr val="1C1915"/>
                </a:solidFill>
                <a:latin typeface="Calibri"/>
              </a:rPr>
              <a:t>It still boots without Laya</a:t>
            </a:r>
          </a:p>
        </p:txBody>
      </p:sp>
      <p:sp>
        <p:nvSpPr>
          <p:cNvPr id="21" name="TextBox 20"/>
          <p:cNvSpPr txBox="1"/>
          <p:nvPr/>
        </p:nvSpPr>
        <p:spPr>
          <a:xfrm>
            <a:off x="6537960" y="4709160"/>
            <a:ext cx="5166360" cy="1051560"/>
          </a:xfrm>
          <a:prstGeom prst="rect">
            <a:avLst/>
          </a:prstGeom>
          <a:noFill/>
        </p:spPr>
        <p:txBody>
          <a:bodyPr wrap="square" anchor="t">
            <a:spAutoFit/>
          </a:bodyPr>
          <a:lstStyle/>
          <a:p>
            <a:pPr algn="l">
              <a:spcAft>
                <a:spcPts val="600"/>
              </a:spcAft>
            </a:pPr>
            <a:r>
              <a:rPr sz="1400" b="0">
                <a:solidFill>
                  <a:srgbClr val="6F675C"/>
                </a:solidFill>
                <a:latin typeface="Calibri"/>
              </a:rPr>
              <a:t>No weights = heuristic + a banner. PESEL / NIP / IBAN / Luhn / secrets stay. Semantics go grey. The UI does not pretend a model is watching.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LOCAL</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Stop on the machine. In ~28 ms.</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15 / 18</a:t>
            </a:r>
          </a:p>
        </p:txBody>
      </p:sp>
      <p:sp>
        <p:nvSpPr>
          <p:cNvPr id="6" name="TextBox 5"/>
          <p:cNvSpPr txBox="1"/>
          <p:nvPr/>
        </p:nvSpPr>
        <p:spPr>
          <a:xfrm>
            <a:off x="457200" y="1600200"/>
            <a:ext cx="6949440" cy="4023360"/>
          </a:xfrm>
          <a:prstGeom prst="rect">
            <a:avLst/>
          </a:prstGeom>
          <a:noFill/>
        </p:spPr>
        <p:txBody>
          <a:bodyPr wrap="square" anchor="t">
            <a:spAutoFit/>
          </a:bodyPr>
          <a:lstStyle/>
          <a:p>
            <a:pPr algn="l">
              <a:spcAft>
                <a:spcPts val="600"/>
              </a:spcAft>
            </a:pPr>
            <a:r>
              <a:rPr sz="1700" b="0">
                <a:solidFill>
                  <a:srgbClr val="1C1915"/>
                </a:solidFill>
                <a:latin typeface="Calibri"/>
              </a:rPr>
              <a:t>Classification is not a round-trip to the model vendor. The finder and hard rules are cheap. Laya, if enabled, runs locally. Tens of milliseconds, not seconds of scanning in the cloud.
That matters on Enter and for an agent already waiting on tokens. The gate cannot be a second model.
If the verdict is block, the packet dies here. There is no send-it-and-do-IR-later.</a:t>
            </a:r>
          </a:p>
        </p:txBody>
      </p:sp>
      <p:sp>
        <p:nvSpPr>
          <p:cNvPr id="7" name="Rounded Rectangle 6"/>
          <p:cNvSpPr/>
          <p:nvPr/>
        </p:nvSpPr>
        <p:spPr>
          <a:xfrm>
            <a:off x="7680960" y="1600200"/>
            <a:ext cx="4023360" cy="4206240"/>
          </a:xfrm>
          <a:prstGeom prst="roundRect">
            <a:avLst>
              <a:gd name="adj" fmla="val 8000"/>
            </a:avLst>
          </a:prstGeom>
          <a:solidFill>
            <a:srgbClr val="508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783080"/>
            <a:ext cx="3611880" cy="274320"/>
          </a:xfrm>
          <a:prstGeom prst="rect">
            <a:avLst/>
          </a:prstGeom>
          <a:noFill/>
        </p:spPr>
        <p:txBody>
          <a:bodyPr wrap="square" anchor="t">
            <a:spAutoFit/>
          </a:bodyPr>
          <a:lstStyle/>
          <a:p>
            <a:pPr algn="l">
              <a:spcAft>
                <a:spcPts val="600"/>
              </a:spcAft>
            </a:pPr>
            <a:r>
              <a:rPr sz="1100" b="1">
                <a:solidFill>
                  <a:srgbClr val="D5ECEC"/>
                </a:solidFill>
                <a:latin typeface="Calibri"/>
              </a:rPr>
              <a:t>ONE REQUEST</a:t>
            </a:r>
          </a:p>
        </p:txBody>
      </p:sp>
      <p:sp>
        <p:nvSpPr>
          <p:cNvPr id="9" name="TextBox 8"/>
          <p:cNvSpPr txBox="1"/>
          <p:nvPr/>
        </p:nvSpPr>
        <p:spPr>
          <a:xfrm>
            <a:off x="7909560" y="2194560"/>
            <a:ext cx="3611880" cy="3383280"/>
          </a:xfrm>
          <a:prstGeom prst="rect">
            <a:avLst/>
          </a:prstGeom>
          <a:noFill/>
        </p:spPr>
        <p:txBody>
          <a:bodyPr wrap="square" anchor="t">
            <a:spAutoFit/>
          </a:bodyPr>
          <a:lstStyle/>
          <a:p>
            <a:pPr algn="l">
              <a:spcAft>
                <a:spcPts val="600"/>
              </a:spcAft>
            </a:pPr>
            <a:r>
              <a:rPr sz="1500" b="0">
                <a:solidFill>
                  <a:srgbClr val="FFFAF3"/>
                </a:solidFill>
                <a:latin typeface="Calibri"/>
              </a:rPr>
              <a:t>model allow-list → rate limit → budget → loop guard → finder + classifier → signatures → patterns → disabled controls → whitelist / role → per-category action → redaction → incident → audit + telemetry.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LIMITS</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What we deliberately do not do</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16 / 18</a:t>
            </a:r>
          </a:p>
        </p:txBody>
      </p:sp>
      <p:sp>
        <p:nvSpPr>
          <p:cNvPr id="6" name="Rounded Rectangle 5"/>
          <p:cNvSpPr/>
          <p:nvPr/>
        </p:nvSpPr>
        <p:spPr>
          <a:xfrm>
            <a:off x="457200" y="160020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83080"/>
            <a:ext cx="5166360" cy="548640"/>
          </a:xfrm>
          <a:prstGeom prst="rect">
            <a:avLst/>
          </a:prstGeom>
          <a:noFill/>
        </p:spPr>
        <p:txBody>
          <a:bodyPr wrap="square" anchor="t">
            <a:spAutoFit/>
          </a:bodyPr>
          <a:lstStyle/>
          <a:p>
            <a:pPr algn="l">
              <a:spcAft>
                <a:spcPts val="600"/>
              </a:spcAft>
            </a:pPr>
            <a:r>
              <a:rPr sz="1700" b="1">
                <a:solidFill>
                  <a:srgbClr val="1C1915"/>
                </a:solidFill>
                <a:latin typeface="Calibri"/>
              </a:rPr>
              <a:t>We do not break consumer chats</a:t>
            </a:r>
          </a:p>
        </p:txBody>
      </p:sp>
      <p:sp>
        <p:nvSpPr>
          <p:cNvPr id="8" name="TextBox 7"/>
          <p:cNvSpPr txBox="1"/>
          <p:nvPr/>
        </p:nvSpPr>
        <p:spPr>
          <a:xfrm>
            <a:off x="685800" y="2423160"/>
            <a:ext cx="5166360" cy="1051560"/>
          </a:xfrm>
          <a:prstGeom prst="rect">
            <a:avLst/>
          </a:prstGeom>
          <a:noFill/>
        </p:spPr>
        <p:txBody>
          <a:bodyPr wrap="square" anchor="t">
            <a:spAutoFit/>
          </a:bodyPr>
          <a:lstStyle/>
          <a:p>
            <a:pPr algn="l">
              <a:spcAft>
                <a:spcPts val="600"/>
              </a:spcAft>
            </a:pPr>
            <a:r>
              <a:rPr sz="1500" b="0">
                <a:solidFill>
                  <a:srgbClr val="6F675C"/>
                </a:solidFill>
                <a:latin typeface="Calibri"/>
              </a:rPr>
              <a:t>No MITM on Messenger, WhatsApp, pinned TLS. For AI chats in the browser an extension reads the field, not the whole TLS session.</a:t>
            </a:r>
          </a:p>
        </p:txBody>
      </p:sp>
      <p:sp>
        <p:nvSpPr>
          <p:cNvPr id="9" name="Rounded Rectangle 8"/>
          <p:cNvSpPr/>
          <p:nvPr/>
        </p:nvSpPr>
        <p:spPr>
          <a:xfrm>
            <a:off x="6309360" y="160020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83080"/>
            <a:ext cx="5166360" cy="548640"/>
          </a:xfrm>
          <a:prstGeom prst="rect">
            <a:avLst/>
          </a:prstGeom>
          <a:noFill/>
        </p:spPr>
        <p:txBody>
          <a:bodyPr wrap="square" anchor="t">
            <a:spAutoFit/>
          </a:bodyPr>
          <a:lstStyle/>
          <a:p>
            <a:pPr algn="l">
              <a:spcAft>
                <a:spcPts val="600"/>
              </a:spcAft>
            </a:pPr>
            <a:r>
              <a:rPr sz="1700" b="1">
                <a:solidFill>
                  <a:srgbClr val="1C1915"/>
                </a:solidFill>
                <a:latin typeface="Calibri"/>
              </a:rPr>
              <a:t>We are not DLP for everything</a:t>
            </a:r>
          </a:p>
        </p:txBody>
      </p:sp>
      <p:sp>
        <p:nvSpPr>
          <p:cNvPr id="11" name="TextBox 10"/>
          <p:cNvSpPr txBox="1"/>
          <p:nvPr/>
        </p:nvSpPr>
        <p:spPr>
          <a:xfrm>
            <a:off x="6537960" y="2423160"/>
            <a:ext cx="5166360" cy="1051560"/>
          </a:xfrm>
          <a:prstGeom prst="rect">
            <a:avLst/>
          </a:prstGeom>
          <a:noFill/>
        </p:spPr>
        <p:txBody>
          <a:bodyPr wrap="square" anchor="t">
            <a:spAutoFit/>
          </a:bodyPr>
          <a:lstStyle/>
          <a:p>
            <a:pPr algn="l">
              <a:spcAft>
                <a:spcPts val="600"/>
              </a:spcAft>
            </a:pPr>
            <a:r>
              <a:rPr sz="1500" b="0">
                <a:solidFill>
                  <a:srgbClr val="6F675C"/>
                </a:solidFill>
                <a:latin typeface="Calibri"/>
              </a:rPr>
              <a:t>We do not replace antivirus or mail DLP. We are a layer on the way out to a model.</a:t>
            </a:r>
          </a:p>
        </p:txBody>
      </p:sp>
      <p:sp>
        <p:nvSpPr>
          <p:cNvPr id="12" name="Rounded Rectangle 11"/>
          <p:cNvSpPr/>
          <p:nvPr/>
        </p:nvSpPr>
        <p:spPr>
          <a:xfrm>
            <a:off x="457200" y="3840480"/>
            <a:ext cx="5623560" cy="205740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23360"/>
            <a:ext cx="5166360" cy="548640"/>
          </a:xfrm>
          <a:prstGeom prst="rect">
            <a:avLst/>
          </a:prstGeom>
          <a:noFill/>
        </p:spPr>
        <p:txBody>
          <a:bodyPr wrap="square" anchor="t">
            <a:spAutoFit/>
          </a:bodyPr>
          <a:lstStyle/>
          <a:p>
            <a:pPr algn="l">
              <a:spcAft>
                <a:spcPts val="600"/>
              </a:spcAft>
            </a:pPr>
            <a:r>
              <a:rPr sz="1700" b="1">
                <a:solidFill>
                  <a:srgbClr val="1C1915"/>
                </a:solidFill>
                <a:latin typeface="Calibri"/>
              </a:rPr>
              <a:t>We do not pretend the cloud classifies better</a:t>
            </a:r>
          </a:p>
        </p:txBody>
      </p:sp>
      <p:sp>
        <p:nvSpPr>
          <p:cNvPr id="14" name="TextBox 13"/>
          <p:cNvSpPr txBox="1"/>
          <p:nvPr/>
        </p:nvSpPr>
        <p:spPr>
          <a:xfrm>
            <a:off x="685800" y="4663440"/>
            <a:ext cx="5166360" cy="1051560"/>
          </a:xfrm>
          <a:prstGeom prst="rect">
            <a:avLst/>
          </a:prstGeom>
          <a:noFill/>
        </p:spPr>
        <p:txBody>
          <a:bodyPr wrap="square" anchor="t">
            <a:spAutoFit/>
          </a:bodyPr>
          <a:lstStyle/>
          <a:p>
            <a:pPr algn="l">
              <a:spcAft>
                <a:spcPts val="600"/>
              </a:spcAft>
            </a:pPr>
            <a:r>
              <a:rPr sz="1500" b="0">
                <a:solidFill>
                  <a:srgbClr val="6F675C"/>
                </a:solidFill>
                <a:latin typeface="Calibri"/>
              </a:rPr>
              <a:t>Sending the prompt to a third-party API to check if it is sensitive is the same leak.</a:t>
            </a:r>
          </a:p>
        </p:txBody>
      </p:sp>
      <p:sp>
        <p:nvSpPr>
          <p:cNvPr id="15" name="Rounded Rectangle 14"/>
          <p:cNvSpPr/>
          <p:nvPr/>
        </p:nvSpPr>
        <p:spPr>
          <a:xfrm>
            <a:off x="6309360" y="3840480"/>
            <a:ext cx="5623560" cy="2057400"/>
          </a:xfrm>
          <a:prstGeom prst="roundRect">
            <a:avLst>
              <a:gd name="adj" fmla="val 8000"/>
            </a:avLst>
          </a:prstGeom>
          <a:solidFill>
            <a:srgbClr val="F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023360"/>
            <a:ext cx="5166360" cy="548640"/>
          </a:xfrm>
          <a:prstGeom prst="rect">
            <a:avLst/>
          </a:prstGeom>
          <a:noFill/>
        </p:spPr>
        <p:txBody>
          <a:bodyPr wrap="square" anchor="t">
            <a:spAutoFit/>
          </a:bodyPr>
          <a:lstStyle/>
          <a:p>
            <a:pPr algn="l">
              <a:spcAft>
                <a:spcPts val="600"/>
              </a:spcAft>
            </a:pPr>
            <a:r>
              <a:rPr sz="1700" b="1">
                <a:solidFill>
                  <a:srgbClr val="1C1915"/>
                </a:solidFill>
                <a:latin typeface="Calibri"/>
              </a:rPr>
              <a:t>We do not hide degradation</a:t>
            </a:r>
          </a:p>
        </p:txBody>
      </p:sp>
      <p:sp>
        <p:nvSpPr>
          <p:cNvPr id="17" name="TextBox 16"/>
          <p:cNvSpPr txBox="1"/>
          <p:nvPr/>
        </p:nvSpPr>
        <p:spPr>
          <a:xfrm>
            <a:off x="6537960" y="4663440"/>
            <a:ext cx="5166360" cy="1051560"/>
          </a:xfrm>
          <a:prstGeom prst="rect">
            <a:avLst/>
          </a:prstGeom>
          <a:noFill/>
        </p:spPr>
        <p:txBody>
          <a:bodyPr wrap="square" anchor="t">
            <a:spAutoFit/>
          </a:bodyPr>
          <a:lstStyle/>
          <a:p>
            <a:pPr algn="l">
              <a:spcAft>
                <a:spcPts val="600"/>
              </a:spcAft>
            </a:pPr>
            <a:r>
              <a:rPr sz="1500" b="0">
                <a:solidFill>
                  <a:srgbClr val="6F675C"/>
                </a:solidFill>
                <a:latin typeface="Calibri"/>
              </a:rPr>
              <a:t>Without Laya you see heuristic. Without an upstream key the gate still blocks first — a 502 does not hide our 403.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457200" y="201168"/>
            <a:ext cx="2011680" cy="365760"/>
          </a:xfrm>
          <a:prstGeom prst="rect">
            <a:avLst/>
          </a:prstGeom>
          <a:noFill/>
        </p:spPr>
        <p:txBody>
          <a:bodyPr wrap="none">
            <a:spAutoFit/>
          </a:bodyPr>
          <a:lstStyle/>
          <a:p>
            <a:r>
              <a:rPr sz="2000" b="0">
                <a:solidFill>
                  <a:srgbClr val="508A8E"/>
                </a:solidFill>
                <a:latin typeface="Georgia"/>
              </a:rPr>
              <a:t>A</a:t>
            </a:r>
            <a:r>
              <a:rPr sz="2000" b="0">
                <a:solidFill>
                  <a:srgbClr val="1C1915"/>
                </a:solidFill>
                <a:latin typeface="Georgia"/>
              </a:rPr>
              <a:t>eg</a:t>
            </a:r>
            <a:r>
              <a:rPr sz="2000" b="0">
                <a:solidFill>
                  <a:srgbClr val="AF78A2"/>
                </a:solidFill>
                <a:latin typeface="Georgia"/>
              </a:rPr>
              <a:t>I</a:t>
            </a:r>
            <a:r>
              <a:rPr sz="2000" b="0">
                <a:solidFill>
                  <a:srgbClr val="1C1915"/>
                </a:solidFill>
                <a:latin typeface="Georgia"/>
              </a:rPr>
              <a:t>s</a:t>
            </a:r>
          </a:p>
        </p:txBody>
      </p:sp>
      <p:sp>
        <p:nvSpPr>
          <p:cNvPr id="3" name="TextBox 2"/>
          <p:cNvSpPr txBox="1"/>
          <p:nvPr/>
        </p:nvSpPr>
        <p:spPr>
          <a:xfrm>
            <a:off x="457200" y="566928"/>
            <a:ext cx="10972800" cy="256032"/>
          </a:xfrm>
          <a:prstGeom prst="rect">
            <a:avLst/>
          </a:prstGeom>
          <a:noFill/>
        </p:spPr>
        <p:txBody>
          <a:bodyPr wrap="square" anchor="t">
            <a:spAutoFit/>
          </a:bodyPr>
          <a:lstStyle/>
          <a:p>
            <a:pPr algn="l">
              <a:spcAft>
                <a:spcPts val="600"/>
              </a:spcAft>
            </a:pPr>
            <a:r>
              <a:rPr sz="1100" b="1">
                <a:solidFill>
                  <a:srgbClr val="508A8E"/>
                </a:solidFill>
                <a:latin typeface="Calibri"/>
              </a:rPr>
              <a:t>START</a:t>
            </a:r>
          </a:p>
        </p:txBody>
      </p:sp>
      <p:sp>
        <p:nvSpPr>
          <p:cNvPr id="4" name="TextBox 3"/>
          <p:cNvSpPr txBox="1"/>
          <p:nvPr/>
        </p:nvSpPr>
        <p:spPr>
          <a:xfrm>
            <a:off x="457200" y="804672"/>
            <a:ext cx="11247120" cy="640080"/>
          </a:xfrm>
          <a:prstGeom prst="rect">
            <a:avLst/>
          </a:prstGeom>
          <a:noFill/>
        </p:spPr>
        <p:txBody>
          <a:bodyPr wrap="square" anchor="t">
            <a:spAutoFit/>
          </a:bodyPr>
          <a:lstStyle/>
          <a:p>
            <a:pPr algn="l">
              <a:spcAft>
                <a:spcPts val="600"/>
              </a:spcAft>
            </a:pPr>
            <a:r>
              <a:rPr sz="3000" b="0">
                <a:solidFill>
                  <a:srgbClr val="1C1915"/>
                </a:solidFill>
                <a:latin typeface="Georgia"/>
              </a:rPr>
              <a:t>After clone — one command.</a:t>
            </a:r>
          </a:p>
        </p:txBody>
      </p:sp>
      <p:sp>
        <p:nvSpPr>
          <p:cNvPr id="5" name="TextBox 4"/>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17 / 18</a:t>
            </a:r>
          </a:p>
        </p:txBody>
      </p:sp>
      <p:sp>
        <p:nvSpPr>
          <p:cNvPr id="6" name="TextBox 5"/>
          <p:cNvSpPr txBox="1"/>
          <p:nvPr/>
        </p:nvSpPr>
        <p:spPr>
          <a:xfrm>
            <a:off x="457200" y="1554480"/>
            <a:ext cx="11247120" cy="502920"/>
          </a:xfrm>
          <a:prstGeom prst="rect">
            <a:avLst/>
          </a:prstGeom>
          <a:noFill/>
        </p:spPr>
        <p:txBody>
          <a:bodyPr wrap="square" anchor="t">
            <a:spAutoFit/>
          </a:bodyPr>
          <a:lstStyle/>
          <a:p>
            <a:pPr algn="l">
              <a:spcAft>
                <a:spcPts val="600"/>
              </a:spcAft>
            </a:pPr>
            <a:r>
              <a:rPr sz="1600" b="0">
                <a:solidFill>
                  <a:srgbClr val="1C1915"/>
                </a:solidFill>
                <a:latin typeface="Calibri"/>
              </a:rPr>
              <a:t>On PATH: Python 3.10+ and Node 18+. The script does venv, dependencies, dashboard build, gate and proxy.</a:t>
            </a:r>
          </a:p>
        </p:txBody>
      </p:sp>
      <p:sp>
        <p:nvSpPr>
          <p:cNvPr id="7" name="Rounded Rectangle 6"/>
          <p:cNvSpPr/>
          <p:nvPr/>
        </p:nvSpPr>
        <p:spPr>
          <a:xfrm>
            <a:off x="457200" y="2194560"/>
            <a:ext cx="5623560" cy="2377440"/>
          </a:xfrm>
          <a:prstGeom prst="roundRect">
            <a:avLst>
              <a:gd name="adj" fmla="val 8000"/>
            </a:avLst>
          </a:prstGeom>
          <a:solidFill>
            <a:srgbClr val="508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5212080" cy="320040"/>
          </a:xfrm>
          <a:prstGeom prst="rect">
            <a:avLst/>
          </a:prstGeom>
          <a:noFill/>
        </p:spPr>
        <p:txBody>
          <a:bodyPr wrap="square" anchor="t">
            <a:spAutoFit/>
          </a:bodyPr>
          <a:lstStyle/>
          <a:p>
            <a:pPr algn="l">
              <a:spcAft>
                <a:spcPts val="600"/>
              </a:spcAft>
            </a:pPr>
            <a:r>
              <a:rPr sz="2200" b="1">
                <a:solidFill>
                  <a:srgbClr val="FFFAF3"/>
                </a:solidFill>
                <a:latin typeface="Calibri"/>
              </a:rPr>
              <a:t>python start.py</a:t>
            </a:r>
          </a:p>
        </p:txBody>
      </p:sp>
      <p:sp>
        <p:nvSpPr>
          <p:cNvPr id="9" name="TextBox 8"/>
          <p:cNvSpPr txBox="1"/>
          <p:nvPr/>
        </p:nvSpPr>
        <p:spPr>
          <a:xfrm>
            <a:off x="685800" y="2880360"/>
            <a:ext cx="5212080" cy="1463040"/>
          </a:xfrm>
          <a:prstGeom prst="rect">
            <a:avLst/>
          </a:prstGeom>
          <a:noFill/>
        </p:spPr>
        <p:txBody>
          <a:bodyPr wrap="square" anchor="t">
            <a:spAutoFit/>
          </a:bodyPr>
          <a:lstStyle/>
          <a:p>
            <a:pPr algn="l">
              <a:spcAft>
                <a:spcPts val="600"/>
              </a:spcAft>
            </a:pPr>
            <a:r>
              <a:rPr sz="1500" b="0">
                <a:solidFill>
                  <a:srgbClr val="FFFAF3"/>
                </a:solidFill>
                <a:latin typeface="Calibri"/>
              </a:rPr>
              <a:t>Windows: py start.py or .\start.ps1. macOS / Linux: ./start.sh. Heuristic by default. --with-laya pulls the model.</a:t>
            </a:r>
          </a:p>
        </p:txBody>
      </p:sp>
      <p:sp>
        <p:nvSpPr>
          <p:cNvPr id="10" name="Rounded Rectangle 9"/>
          <p:cNvSpPr/>
          <p:nvPr/>
        </p:nvSpPr>
        <p:spPr>
          <a:xfrm>
            <a:off x="6263640" y="2194560"/>
            <a:ext cx="5486400" cy="2377440"/>
          </a:xfrm>
          <a:prstGeom prst="roundRect">
            <a:avLst>
              <a:gd name="adj" fmla="val 8000"/>
            </a:avLst>
          </a:prstGeom>
          <a:solidFill>
            <a:srgbClr val="FFFAF3"/>
          </a:solidFill>
          <a:ln w="12700">
            <a:solidFill>
              <a:srgbClr val="DD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377440"/>
            <a:ext cx="5074920" cy="320040"/>
          </a:xfrm>
          <a:prstGeom prst="rect">
            <a:avLst/>
          </a:prstGeom>
          <a:noFill/>
        </p:spPr>
        <p:txBody>
          <a:bodyPr wrap="square" anchor="t">
            <a:spAutoFit/>
          </a:bodyPr>
          <a:lstStyle/>
          <a:p>
            <a:pPr algn="l">
              <a:spcAft>
                <a:spcPts val="600"/>
              </a:spcAft>
            </a:pPr>
            <a:r>
              <a:rPr sz="2000" b="1">
                <a:solidFill>
                  <a:srgbClr val="1C1915"/>
                </a:solidFill>
                <a:latin typeface="Calibri"/>
              </a:rPr>
              <a:t>Addresses</a:t>
            </a:r>
          </a:p>
        </p:txBody>
      </p:sp>
      <p:sp>
        <p:nvSpPr>
          <p:cNvPr id="12" name="TextBox 11"/>
          <p:cNvSpPr txBox="1"/>
          <p:nvPr/>
        </p:nvSpPr>
        <p:spPr>
          <a:xfrm>
            <a:off x="6492240" y="2880360"/>
            <a:ext cx="5074920" cy="1463040"/>
          </a:xfrm>
          <a:prstGeom prst="rect">
            <a:avLst/>
          </a:prstGeom>
          <a:noFill/>
        </p:spPr>
        <p:txBody>
          <a:bodyPr wrap="square" anchor="t">
            <a:spAutoFit/>
          </a:bodyPr>
          <a:lstStyle/>
          <a:p>
            <a:pPr algn="l">
              <a:spcAft>
                <a:spcPts val="600"/>
              </a:spcAft>
            </a:pPr>
            <a:r>
              <a:rPr sz="1500" b="0">
                <a:solidFill>
                  <a:srgbClr val="6F675C"/>
                </a:solidFill>
                <a:latin typeface="Calibri"/>
              </a:rPr>
              <a:t>http://127.0.0.1:8080/app
/demo  /v1/scan  /net/openai/v1  :8888</a:t>
            </a:r>
          </a:p>
        </p:txBody>
      </p:sp>
      <p:sp>
        <p:nvSpPr>
          <p:cNvPr id="13" name="TextBox 12"/>
          <p:cNvSpPr txBox="1"/>
          <p:nvPr/>
        </p:nvSpPr>
        <p:spPr>
          <a:xfrm>
            <a:off x="457200" y="4800600"/>
            <a:ext cx="11247120" cy="1188720"/>
          </a:xfrm>
          <a:prstGeom prst="rect">
            <a:avLst/>
          </a:prstGeom>
          <a:noFill/>
        </p:spPr>
        <p:txBody>
          <a:bodyPr wrap="square" anchor="t">
            <a:spAutoFit/>
          </a:bodyPr>
          <a:lstStyle/>
          <a:p>
            <a:pPr algn="l">
              <a:spcAft>
                <a:spcPts val="600"/>
              </a:spcAft>
            </a:pPr>
            <a:r>
              <a:rPr sz="1600" b="0">
                <a:solidFill>
                  <a:srgbClr val="1C1915"/>
                </a:solidFill>
                <a:latin typeface="Calibri"/>
              </a:rPr>
              <a:t>Extension: chrome://extensions → developer mode → Load unpacked → the extension/ folder. Then ChatGPT / Claude / Gemini — Enter on a national ID does not leave.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sp>
        <p:nvSpPr>
          <p:cNvPr id="2" name="TextBox 1"/>
          <p:cNvSpPr txBox="1"/>
          <p:nvPr/>
        </p:nvSpPr>
        <p:spPr>
          <a:xfrm>
            <a:off x="2880360" y="1965960"/>
            <a:ext cx="6400800" cy="1371600"/>
          </a:xfrm>
          <a:prstGeom prst="rect">
            <a:avLst/>
          </a:prstGeom>
          <a:noFill/>
        </p:spPr>
        <p:txBody>
          <a:bodyPr wrap="none">
            <a:spAutoFit/>
          </a:bodyPr>
          <a:lstStyle/>
          <a:p>
            <a:r>
              <a:rPr sz="8400" b="0">
                <a:solidFill>
                  <a:srgbClr val="508A8E"/>
                </a:solidFill>
                <a:latin typeface="Georgia"/>
              </a:rPr>
              <a:t>A</a:t>
            </a:r>
            <a:r>
              <a:rPr sz="8400" b="0">
                <a:solidFill>
                  <a:srgbClr val="1C1915"/>
                </a:solidFill>
                <a:latin typeface="Georgia"/>
              </a:rPr>
              <a:t>eg</a:t>
            </a:r>
            <a:r>
              <a:rPr sz="8400" b="0">
                <a:solidFill>
                  <a:srgbClr val="AF78A2"/>
                </a:solidFill>
                <a:latin typeface="Georgia"/>
              </a:rPr>
              <a:t>I</a:t>
            </a:r>
            <a:r>
              <a:rPr sz="8400" b="0">
                <a:solidFill>
                  <a:srgbClr val="1C1915"/>
                </a:solidFill>
                <a:latin typeface="Georgia"/>
              </a:rPr>
              <a:t>s</a:t>
            </a:r>
          </a:p>
        </p:txBody>
      </p:sp>
      <p:sp>
        <p:nvSpPr>
          <p:cNvPr id="3" name="TextBox 2"/>
          <p:cNvSpPr txBox="1"/>
          <p:nvPr/>
        </p:nvSpPr>
        <p:spPr>
          <a:xfrm>
            <a:off x="1371600" y="3657600"/>
            <a:ext cx="9418320" cy="1463040"/>
          </a:xfrm>
          <a:prstGeom prst="rect">
            <a:avLst/>
          </a:prstGeom>
          <a:noFill/>
        </p:spPr>
        <p:txBody>
          <a:bodyPr wrap="square" anchor="t">
            <a:spAutoFit/>
          </a:bodyPr>
          <a:lstStyle/>
          <a:p>
            <a:pPr algn="ctr">
              <a:spcAft>
                <a:spcPts val="600"/>
              </a:spcAft>
            </a:pPr>
            <a:r>
              <a:rPr sz="1800" b="0">
                <a:solidFill>
                  <a:srgbClr val="6F675C"/>
                </a:solidFill>
                <a:latin typeface="Calibri"/>
              </a:rPr>
              <a:t>A local gateway. The prompt does not leave until it has passed inspection. Policy per category and per role. The incident says who and what — before the model ever sees a thing.</a:t>
            </a:r>
          </a:p>
        </p:txBody>
      </p:sp>
      <p:sp>
        <p:nvSpPr>
          <p:cNvPr id="4" name="TextBox 3"/>
          <p:cNvSpPr txBox="1"/>
          <p:nvPr/>
        </p:nvSpPr>
        <p:spPr>
          <a:xfrm>
            <a:off x="10424160" y="6510528"/>
            <a:ext cx="1371600" cy="256032"/>
          </a:xfrm>
          <a:prstGeom prst="rect">
            <a:avLst/>
          </a:prstGeom>
          <a:noFill/>
        </p:spPr>
        <p:txBody>
          <a:bodyPr wrap="square" anchor="t">
            <a:spAutoFit/>
          </a:bodyPr>
          <a:lstStyle/>
          <a:p>
            <a:pPr algn="r">
              <a:spcAft>
                <a:spcPts val="600"/>
              </a:spcAft>
            </a:pPr>
            <a:r>
              <a:rPr sz="1100" b="0">
                <a:solidFill>
                  <a:srgbClr val="6F675C"/>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